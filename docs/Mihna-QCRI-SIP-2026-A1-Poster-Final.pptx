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0" r:id="rId1"/>
  </p:sldMasterIdLst>
  <p:notesMasterIdLst>
    <p:notesMasterId r:id="rId3"/>
  </p:notesMasterIdLst>
  <p:sldIdLst>
    <p:sldId id="256" r:id="rId2"/>
  </p:sldIdLst>
  <p:sldSz cx="30275213" cy="2138838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737">
          <p15:clr>
            <a:srgbClr val="A4A3A4"/>
          </p15:clr>
        </p15:guide>
        <p15:guide id="2" pos="9536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2" roundtripDataSignature="AMtx7mikEC8ahuYrQDYcaWU94cp5ghMOp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66D8C76-B092-44F2-B185-5F2B32D530E1}">
  <a:tblStyle styleId="{D66D8C76-B092-44F2-B185-5F2B32D530E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6DAF99CD-7672-4744-97F1-F2CC70DE393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5455"/>
  </p:normalViewPr>
  <p:slideViewPr>
    <p:cSldViewPr snapToGrid="0">
      <p:cViewPr>
        <p:scale>
          <a:sx n="39" d="100"/>
          <a:sy n="39" d="100"/>
        </p:scale>
        <p:origin x="1040" y="144"/>
      </p:cViewPr>
      <p:guideLst>
        <p:guide orient="horz" pos="6737"/>
        <p:guide pos="953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12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5" Type="http://schemas.openxmlformats.org/officeDocument/2006/relationships/theme" Target="theme/theme1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r>
              <a:rPr lang="en-US" sz="2175" b="1">
                <a:solidFill>
                  <a:srgbClr val="153A49"/>
                </a:solidFill>
                <a:latin typeface="Calibri"/>
                <a:ea typeface="Calibri"/>
                <a:cs typeface="Calibri"/>
              </a:rPr>
              <a:t>Leading job sectors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v>Qatar</c:v>
          </c:tx>
          <c:spPr>
            <a:solidFill>
              <a:srgbClr val="0F7180"/>
            </a:solidFill>
            <a:ln w="0">
              <a:noFill/>
            </a:ln>
          </c:spPr>
          <c:invertIfNegative val="1"/>
          <c:cat>
            <c:strRef>
              <c:f>'Chart Data'!$A$2:$A$6</c:f>
              <c:strCache>
                <c:ptCount val="5"/>
                <c:pt idx="0">
                  <c:v>Hospitality</c:v>
                </c:pt>
                <c:pt idx="1">
                  <c:v>Sales</c:v>
                </c:pt>
                <c:pt idx="2">
                  <c:v>Construction</c:v>
                </c:pt>
                <c:pt idx="3">
                  <c:v>Technology</c:v>
                </c:pt>
                <c:pt idx="4">
                  <c:v>Engineering</c:v>
                </c:pt>
              </c:strCache>
            </c:strRef>
          </c:cat>
          <c:val>
            <c:numRef>
              <c:f>'Chart Data'!$B$2:$B$6</c:f>
              <c:numCache>
                <c:formatCode>0.0%</c:formatCode>
                <c:ptCount val="5"/>
                <c:pt idx="0">
                  <c:v>7.5911999999999993E-2</c:v>
                </c:pt>
                <c:pt idx="1">
                  <c:v>1.6594999999999999E-2</c:v>
                </c:pt>
                <c:pt idx="2">
                  <c:v>7.3528999999999997E-2</c:v>
                </c:pt>
                <c:pt idx="3">
                  <c:v>8.2402000000000003E-2</c:v>
                </c:pt>
                <c:pt idx="4">
                  <c:v>9.2507000000000006E-2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27EE-6A48-8B42-49FAC6D085FF}"/>
            </c:ext>
          </c:extLst>
        </c:ser>
        <c:ser>
          <c:idx val="1"/>
          <c:order val="1"/>
          <c:tx>
            <c:v>Saudi Arabia</c:v>
          </c:tx>
          <c:spPr>
            <a:solidFill>
              <a:srgbClr val="51B3C5"/>
            </a:solidFill>
            <a:ln w="0">
              <a:noFill/>
            </a:ln>
          </c:spPr>
          <c:invertIfNegative val="1"/>
          <c:cat>
            <c:strRef>
              <c:f>'Chart Data'!$C$2:$C$6</c:f>
              <c:strCache>
                <c:ptCount val="5"/>
                <c:pt idx="0">
                  <c:v>Hospitality</c:v>
                </c:pt>
                <c:pt idx="1">
                  <c:v>Sales</c:v>
                </c:pt>
                <c:pt idx="2">
                  <c:v>Construction</c:v>
                </c:pt>
                <c:pt idx="3">
                  <c:v>Technology</c:v>
                </c:pt>
                <c:pt idx="4">
                  <c:v>Engineering</c:v>
                </c:pt>
              </c:strCache>
            </c:strRef>
          </c:cat>
          <c:val>
            <c:numRef>
              <c:f>'Chart Data'!$D$2:$D$6</c:f>
              <c:numCache>
                <c:formatCode>0.0%</c:formatCode>
                <c:ptCount val="5"/>
                <c:pt idx="0">
                  <c:v>5.3256999999999999E-2</c:v>
                </c:pt>
                <c:pt idx="1">
                  <c:v>7.3361999999999997E-2</c:v>
                </c:pt>
                <c:pt idx="2">
                  <c:v>5.5982999999999998E-2</c:v>
                </c:pt>
                <c:pt idx="3">
                  <c:v>7.5601000000000002E-2</c:v>
                </c:pt>
                <c:pt idx="4">
                  <c:v>0.12618099999999999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27EE-6A48-8B42-49FAC6D085FF}"/>
            </c:ext>
          </c:extLst>
        </c:ser>
        <c:ser>
          <c:idx val="2"/>
          <c:order val="2"/>
          <c:tx>
            <c:v>UAE</c:v>
          </c:tx>
          <c:spPr>
            <a:solidFill>
              <a:srgbClr val="CD863C"/>
            </a:solidFill>
            <a:ln w="0">
              <a:noFill/>
            </a:ln>
          </c:spPr>
          <c:invertIfNegative val="1"/>
          <c:cat>
            <c:strRef>
              <c:f>'Chart Data'!$E$2:$E$6</c:f>
              <c:strCache>
                <c:ptCount val="5"/>
                <c:pt idx="0">
                  <c:v>Hospitality</c:v>
                </c:pt>
                <c:pt idx="1">
                  <c:v>Sales</c:v>
                </c:pt>
                <c:pt idx="2">
                  <c:v>Construction</c:v>
                </c:pt>
                <c:pt idx="3">
                  <c:v>Technology</c:v>
                </c:pt>
                <c:pt idx="4">
                  <c:v>Engineering</c:v>
                </c:pt>
              </c:strCache>
            </c:strRef>
          </c:cat>
          <c:val>
            <c:numRef>
              <c:f>'Chart Data'!$F$2:$F$6</c:f>
              <c:numCache>
                <c:formatCode>0.0%</c:formatCode>
                <c:ptCount val="5"/>
                <c:pt idx="0">
                  <c:v>3.1744000000000001E-2</c:v>
                </c:pt>
                <c:pt idx="1">
                  <c:v>6.2745999999999996E-2</c:v>
                </c:pt>
                <c:pt idx="2">
                  <c:v>6.2964000000000006E-2</c:v>
                </c:pt>
                <c:pt idx="3">
                  <c:v>7.9992999999999995E-2</c:v>
                </c:pt>
                <c:pt idx="4">
                  <c:v>9.7938999999999998E-2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27EE-6A48-8B42-49FAC6D085F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153A49"/>
                </a:solidFill>
                <a:latin typeface="Calibri"/>
                <a:ea typeface="Calibri"/>
                <a:cs typeface="Calibri"/>
              </a:defRPr>
            </a:pPr>
            <a:endParaRPr lang="en-QA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15"/>
          <c:min val="0"/>
        </c:scaling>
        <c:delete val="0"/>
        <c:axPos val="b"/>
        <c:majorGridlines>
          <c:spPr>
            <a:ln w="9525">
              <a:solidFill>
                <a:srgbClr val="DFEAED"/>
              </a:solidFill>
            </a:ln>
          </c:spPr>
        </c:majorGridlines>
        <c:numFmt formatCode="0.0%" sourceLinked="1"/>
        <c:majorTickMark val="none"/>
        <c:minorTickMark val="none"/>
        <c:tickLblPos val="nextTo"/>
        <c:spPr>
          <a:ln w="0">
            <a:noFill/>
          </a:ln>
        </c:spPr>
        <c:txPr>
          <a:bodyPr anchorCtr="1"/>
          <a:lstStyle/>
          <a:p>
            <a:pPr>
              <a:defRPr sz="1725">
                <a:solidFill>
                  <a:srgbClr val="153A49"/>
                </a:solidFill>
                <a:latin typeface="Calibri"/>
                <a:ea typeface="Calibri"/>
                <a:cs typeface="Calibri"/>
              </a:defRPr>
            </a:pPr>
            <a:endParaRPr lang="en-QA"/>
          </a:p>
        </c:txPr>
        <c:crossAx val="48650112"/>
        <c:crosses val="autoZero"/>
        <c:crossBetween val="between"/>
        <c:majorUnit val="0.05"/>
      </c:valAx>
      <c:spPr>
        <a:solidFill>
          <a:srgbClr val="FFFFFF"/>
        </a:solidFill>
        <a:ln w="0">
          <a:noFill/>
        </a:ln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153A49"/>
              </a:solidFill>
              <a:latin typeface="Calibri"/>
              <a:ea typeface="Calibri"/>
              <a:cs typeface="Calibri"/>
            </a:defRPr>
          </a:pPr>
          <a:endParaRPr lang="en-QA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b3b5f08b9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22300" y="0"/>
            <a:ext cx="4244975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" name="Google Shape;27;g3fb3b5f08b9_3_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endParaRPr dirty="0"/>
          </a:p>
        </p:txBody>
      </p:sp>
      <p:sp>
        <p:nvSpPr>
          <p:cNvPr id="28" name="Google Shape;28;g3fb3b5f08b9_3_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a8cef8562_4_6"/>
          <p:cNvSpPr txBox="1">
            <a:spLocks noGrp="1"/>
          </p:cNvSpPr>
          <p:nvPr>
            <p:ph type="dt" idx="10"/>
          </p:nvPr>
        </p:nvSpPr>
        <p:spPr>
          <a:xfrm>
            <a:off x="1513761" y="19823869"/>
            <a:ext cx="7064217" cy="113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fa8cef8562_4_6"/>
          <p:cNvSpPr txBox="1">
            <a:spLocks noGrp="1"/>
          </p:cNvSpPr>
          <p:nvPr>
            <p:ph type="ftr" idx="11"/>
          </p:nvPr>
        </p:nvSpPr>
        <p:spPr>
          <a:xfrm>
            <a:off x="10344031" y="19823869"/>
            <a:ext cx="9587151" cy="113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fa8cef8562_4_6"/>
          <p:cNvSpPr txBox="1">
            <a:spLocks noGrp="1"/>
          </p:cNvSpPr>
          <p:nvPr>
            <p:ph type="sldNum" idx="12"/>
          </p:nvPr>
        </p:nvSpPr>
        <p:spPr>
          <a:xfrm>
            <a:off x="21697236" y="19823869"/>
            <a:ext cx="7064217" cy="113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ctr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4100" b="0" i="0" u="non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a8cef8562_4_0"/>
          <p:cNvSpPr txBox="1">
            <a:spLocks noGrp="1"/>
          </p:cNvSpPr>
          <p:nvPr>
            <p:ph type="title"/>
          </p:nvPr>
        </p:nvSpPr>
        <p:spPr>
          <a:xfrm>
            <a:off x="1513761" y="856527"/>
            <a:ext cx="27247692" cy="3564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00"/>
              <a:buFont typeface="Calibri"/>
              <a:buNone/>
              <a:defRPr sz="14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g3fa8cef8562_4_0"/>
          <p:cNvSpPr txBox="1">
            <a:spLocks noGrp="1"/>
          </p:cNvSpPr>
          <p:nvPr>
            <p:ph type="body" idx="1"/>
          </p:nvPr>
        </p:nvSpPr>
        <p:spPr>
          <a:xfrm>
            <a:off x="1513761" y="4990629"/>
            <a:ext cx="27247692" cy="141153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t" anchorCtr="0">
            <a:normAutofit/>
          </a:bodyPr>
          <a:lstStyle>
            <a:lvl1pPr marL="457200" marR="0" lvl="0" indent="-920750" algn="l" rtl="0">
              <a:lnSpc>
                <a:spcPct val="100000"/>
              </a:lnSpc>
              <a:spcBef>
                <a:spcPts val="2180"/>
              </a:spcBef>
              <a:spcAft>
                <a:spcPts val="0"/>
              </a:spcAft>
              <a:buClr>
                <a:schemeClr val="dk1"/>
              </a:buClr>
              <a:buSzPts val="10900"/>
              <a:buFont typeface="Arial"/>
              <a:buChar char="•"/>
              <a:defRPr sz="10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831850" algn="l" rtl="0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Clr>
                <a:schemeClr val="dk1"/>
              </a:buClr>
              <a:buSzPts val="9500"/>
              <a:buFont typeface="Arial"/>
              <a:buChar char="–"/>
              <a:defRPr sz="9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742950" algn="l" rtl="0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/>
              <a:buChar char="•"/>
              <a:defRPr sz="8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66040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–"/>
              <a:defRPr sz="6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66040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»"/>
              <a:defRPr sz="6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66040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sz="6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66040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sz="6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66040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sz="6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660400" algn="l" rtl="0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Arial"/>
              <a:buChar char="•"/>
              <a:defRPr sz="6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g3fa8cef8562_4_0"/>
          <p:cNvSpPr txBox="1">
            <a:spLocks noGrp="1"/>
          </p:cNvSpPr>
          <p:nvPr>
            <p:ph type="dt" idx="10"/>
          </p:nvPr>
        </p:nvSpPr>
        <p:spPr>
          <a:xfrm>
            <a:off x="1513761" y="19823869"/>
            <a:ext cx="7064217" cy="113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g3fa8cef8562_4_0"/>
          <p:cNvSpPr txBox="1">
            <a:spLocks noGrp="1"/>
          </p:cNvSpPr>
          <p:nvPr>
            <p:ph type="ftr" idx="11"/>
          </p:nvPr>
        </p:nvSpPr>
        <p:spPr>
          <a:xfrm>
            <a:off x="10344031" y="19823869"/>
            <a:ext cx="9587151" cy="113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6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g3fa8cef8562_4_0"/>
          <p:cNvSpPr txBox="1">
            <a:spLocks noGrp="1"/>
          </p:cNvSpPr>
          <p:nvPr>
            <p:ph type="sldNum" idx="12"/>
          </p:nvPr>
        </p:nvSpPr>
        <p:spPr>
          <a:xfrm>
            <a:off x="21697236" y="19823869"/>
            <a:ext cx="7064217" cy="1138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10200" tIns="155100" rIns="310200" bIns="1551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100"/>
              <a:buFont typeface="Calibri"/>
              <a:buNone/>
              <a:defRPr sz="41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openxmlformats.org/officeDocument/2006/relationships/image" Target="../media/image1.png"/><Relationship Id="rId21" Type="http://schemas.openxmlformats.org/officeDocument/2006/relationships/image" Target="../media/image18.png"/><Relationship Id="rId34" Type="http://schemas.openxmlformats.org/officeDocument/2006/relationships/chart" Target="../charts/chart1.xml"/><Relationship Id="rId7" Type="http://schemas.openxmlformats.org/officeDocument/2006/relationships/image" Target="../media/image5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33" Type="http://schemas.openxmlformats.org/officeDocument/2006/relationships/image" Target="../media/image30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hyperlink" Target="https://github.com/AlbaraaAloush/ai-powered-job-market-intelligence" TargetMode="External"/><Relationship Id="rId24" Type="http://schemas.openxmlformats.org/officeDocument/2006/relationships/image" Target="../media/image21.png"/><Relationship Id="rId32" Type="http://schemas.openxmlformats.org/officeDocument/2006/relationships/image" Target="../media/image29.png"/><Relationship Id="rId5" Type="http://schemas.openxmlformats.org/officeDocument/2006/relationships/image" Target="../media/image3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8.png"/><Relationship Id="rId19" Type="http://schemas.openxmlformats.org/officeDocument/2006/relationships/image" Target="../media/image16.png"/><Relationship Id="rId31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Relationship Id="rId35" Type="http://schemas.openxmlformats.org/officeDocument/2006/relationships/image" Target="../media/image31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Google Shape;30;g3fb3b5f08b9_3_0"/>
          <p:cNvGraphicFramePr/>
          <p:nvPr/>
        </p:nvGraphicFramePr>
        <p:xfrm>
          <a:off x="762000" y="9439275"/>
          <a:ext cx="6667500" cy="1533525"/>
        </p:xfrm>
        <a:graphic>
          <a:graphicData uri="http://schemas.openxmlformats.org/drawingml/2006/table">
            <a:tbl>
              <a:tblPr>
                <a:noFill/>
                <a:tableStyleId>{D66D8C76-B092-44F2-B185-5F2B32D530E1}</a:tableStyleId>
              </a:tblPr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2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29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sz="1725" b="1" u="none" strike="noStrike" cap="none">
                          <a:solidFill>
                            <a:srgbClr val="223C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 / snapshot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solidFill>
                      <a:srgbClr val="EFF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sz="1725" b="1" u="none" strike="noStrike" cap="none">
                          <a:solidFill>
                            <a:srgbClr val="223C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Qatar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solidFill>
                      <a:srgbClr val="EFF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sz="1725" b="1" u="none" strike="noStrike" cap="none">
                          <a:solidFill>
                            <a:srgbClr val="223C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Saudi Arabia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solidFill>
                      <a:srgbClr val="EFF7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sz="1725" b="1" u="none" strike="noStrike" cap="none">
                          <a:solidFill>
                            <a:srgbClr val="223C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UAE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solidFill>
                      <a:srgbClr val="EFF7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sz="1725" b="0" u="none" strike="noStrike" cap="none">
                          <a:solidFill>
                            <a:srgbClr val="223C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Bayt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10,131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</a:t>
                      </a:r>
                      <a:endParaRPr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16,101</a:t>
                      </a:r>
                      <a:r>
                        <a:rPr lang="en-US" sz="1100">
                          <a:solidFill>
                            <a:schemeClr val="dk1"/>
                          </a:solidFill>
                        </a:rPr>
                        <a:t> </a:t>
                      </a:r>
                      <a:endParaRPr sz="1400"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19,124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</a:t>
                      </a:r>
                      <a:endParaRPr sz="1700"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sz="1725" b="0" u="none" strike="noStrike" cap="none">
                          <a:solidFill>
                            <a:srgbClr val="223C4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LinkedIn</a:t>
                      </a:r>
                      <a:endParaRPr sz="1300" b="1"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2,041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</a:t>
                      </a:r>
                      <a:endParaRPr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4,441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</a:t>
                      </a:r>
                      <a:endParaRPr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725"/>
                        <a:buFont typeface="Arial"/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</a:rPr>
                        <a:t>3,778</a:t>
                      </a:r>
                      <a:r>
                        <a:rPr lang="en-US">
                          <a:solidFill>
                            <a:schemeClr val="dk1"/>
                          </a:solidFill>
                        </a:rPr>
                        <a:t> </a:t>
                      </a:r>
                      <a:endParaRPr u="none" strike="noStrike" cap="none"/>
                    </a:p>
                  </a:txBody>
                  <a:tcPr marL="91425" marR="91425" marT="91425" marB="914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1" name="Google Shape;31;g3fb3b5f08b9_3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2000" y="552450"/>
            <a:ext cx="1038225" cy="10382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g3fb3b5f08b9_3_0"/>
          <p:cNvSpPr/>
          <p:nvPr/>
        </p:nvSpPr>
        <p:spPr>
          <a:xfrm>
            <a:off x="2009775" y="476250"/>
            <a:ext cx="3429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900"/>
              <a:buFont typeface="Arial"/>
              <a:buNone/>
            </a:pPr>
            <a:r>
              <a:rPr lang="en-US" sz="690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Mihna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g3fb3b5f08b9_3_0"/>
          <p:cNvSpPr/>
          <p:nvPr/>
        </p:nvSpPr>
        <p:spPr>
          <a:xfrm>
            <a:off x="5810250" y="600075"/>
            <a:ext cx="18478500" cy="8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50"/>
              <a:buFont typeface="Arial"/>
              <a:buNone/>
            </a:pPr>
            <a:r>
              <a:rPr lang="en-US" sz="58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AI-Powered Job Market Intelligence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g3fb3b5f08b9_3_0"/>
          <p:cNvSpPr/>
          <p:nvPr/>
        </p:nvSpPr>
        <p:spPr>
          <a:xfrm>
            <a:off x="800100" y="1704975"/>
            <a:ext cx="18954900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lang="en-US" sz="28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Mohammad Faiz Jabir  ·  Albaraa Aloush  ·  Yahya Taha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fb3b5f08b9_3_0"/>
          <p:cNvSpPr/>
          <p:nvPr/>
        </p:nvSpPr>
        <p:spPr>
          <a:xfrm>
            <a:off x="800100" y="2247900"/>
            <a:ext cx="1428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75"/>
              <a:buFont typeface="Arial"/>
              <a:buNone/>
            </a:pPr>
            <a:r>
              <a:rPr lang="en-US" sz="2775" b="0" i="0" u="none" strike="noStrike" cap="none" dirty="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Mentors: Dr. </a:t>
            </a:r>
            <a:r>
              <a:rPr lang="en-US" sz="2775" b="0" i="0" u="none" strike="noStrike" cap="none" dirty="0" err="1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Hamdy</a:t>
            </a:r>
            <a:r>
              <a:rPr lang="en-US" sz="2775" b="0" i="0" u="none" strike="noStrike" cap="none" dirty="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 Mubarak, Eng. Ummar Abbas, </a:t>
            </a:r>
            <a:r>
              <a:rPr lang="en-US" sz="2775" b="0" i="0" u="none" strike="noStrike" cap="none" dirty="0" err="1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Abubakr</a:t>
            </a:r>
            <a:r>
              <a:rPr lang="en-US" sz="2775" b="0" i="0" u="none" strike="noStrike" cap="none" dirty="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 Mohamed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" name="Google Shape;36;g3fb3b5f08b9_3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669750" y="561975"/>
            <a:ext cx="4857751" cy="1619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g3fb3b5f08b9_3_0"/>
          <p:cNvSpPr/>
          <p:nvPr/>
        </p:nvSpPr>
        <p:spPr>
          <a:xfrm>
            <a:off x="19799300" y="2324100"/>
            <a:ext cx="97155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5"/>
              <a:buFont typeface="Arial"/>
              <a:buNone/>
            </a:pPr>
            <a:r>
              <a:rPr lang="en-US" sz="2175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QCRI Summer Internship Program 2026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" name="Google Shape;38;g3fb3b5f08b9_3_0"/>
          <p:cNvCxnSpPr/>
          <p:nvPr/>
        </p:nvCxnSpPr>
        <p:spPr>
          <a:xfrm>
            <a:off x="762000" y="2905125"/>
            <a:ext cx="28765500" cy="0"/>
          </a:xfrm>
          <a:prstGeom prst="straightConnector1">
            <a:avLst/>
          </a:prstGeom>
          <a:noFill/>
          <a:ln w="28575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9" name="Google Shape;39;g3fb3b5f08b9_3_0"/>
          <p:cNvSpPr/>
          <p:nvPr/>
        </p:nvSpPr>
        <p:spPr>
          <a:xfrm>
            <a:off x="762000" y="3286125"/>
            <a:ext cx="66675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Motivation &amp; aim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" name="Google Shape;40;g3fb3b5f08b9_3_0"/>
          <p:cNvCxnSpPr/>
          <p:nvPr/>
        </p:nvCxnSpPr>
        <p:spPr>
          <a:xfrm>
            <a:off x="762000" y="3943350"/>
            <a:ext cx="6667500" cy="0"/>
          </a:xfrm>
          <a:prstGeom prst="straightConnector1">
            <a:avLst/>
          </a:prstGeom>
          <a:noFill/>
          <a:ln w="28575" cap="flat" cmpd="sng">
            <a:solidFill>
              <a:srgbClr val="53BBD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g3fb3b5f08b9_3_0"/>
          <p:cNvSpPr/>
          <p:nvPr/>
        </p:nvSpPr>
        <p:spPr>
          <a:xfrm>
            <a:off x="762000" y="4171950"/>
            <a:ext cx="6667500" cy="13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 b="0" i="0" u="none" strike="noStrike" cap="none" dirty="0">
                <a:solidFill>
                  <a:srgbClr val="0000FF"/>
                </a:solidFill>
                <a:latin typeface="Calibri"/>
                <a:ea typeface="Calibri"/>
                <a:cs typeface="Calibri"/>
                <a:sym typeface="Calibri"/>
              </a:rPr>
              <a:t>Job ads can inform education, career decisions and workforce planning. </a:t>
            </a:r>
            <a:r>
              <a:rPr lang="en-US" sz="2400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Inconsistent terminology, different formats and missing fields make them hard to analyze.</a:t>
            </a:r>
            <a:endParaRPr sz="1400" b="0" i="0" u="none" strike="noStrike" cap="none" dirty="0">
              <a:solidFill>
                <a:srgbClr val="0000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g3fb3b5f08b9_3_0"/>
          <p:cNvSpPr/>
          <p:nvPr/>
        </p:nvSpPr>
        <p:spPr>
          <a:xfrm>
            <a:off x="762000" y="5581650"/>
            <a:ext cx="6667500" cy="138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 b="1" i="1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Mihna</a:t>
            </a:r>
            <a:r>
              <a:rPr lang="en-US" sz="22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 structures postings into evidence of demand that students, employers and policymakers can explore through dashboards and bilingual questions.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g3fb3b5f08b9_3_0"/>
          <p:cNvSpPr/>
          <p:nvPr/>
        </p:nvSpPr>
        <p:spPr>
          <a:xfrm>
            <a:off x="762000" y="7086600"/>
            <a:ext cx="66675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Data collection &amp; preparation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" name="Google Shape;44;g3fb3b5f08b9_3_0"/>
          <p:cNvCxnSpPr/>
          <p:nvPr/>
        </p:nvCxnSpPr>
        <p:spPr>
          <a:xfrm>
            <a:off x="762000" y="7743825"/>
            <a:ext cx="6667500" cy="0"/>
          </a:xfrm>
          <a:prstGeom prst="straightConnector1">
            <a:avLst/>
          </a:prstGeom>
          <a:noFill/>
          <a:ln w="28575" cap="flat" cmpd="sng">
            <a:solidFill>
              <a:srgbClr val="53BBD3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5" name="Google Shape;45;g3fb3b5f08b9_3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2000" y="7953375"/>
            <a:ext cx="1609725" cy="35145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46;g3fb3b5f08b9_3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67009" y="8429625"/>
            <a:ext cx="1599706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g3fb3b5f08b9_3_0"/>
          <p:cNvSpPr/>
          <p:nvPr/>
        </p:nvSpPr>
        <p:spPr>
          <a:xfrm>
            <a:off x="2657475" y="7953375"/>
            <a:ext cx="4772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Custom scraping pipeline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g3fb3b5f08b9_3_0"/>
          <p:cNvSpPr/>
          <p:nvPr/>
        </p:nvSpPr>
        <p:spPr>
          <a:xfrm>
            <a:off x="2657475" y="8429625"/>
            <a:ext cx="47721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Arial"/>
              <a:buNone/>
            </a:pPr>
            <a:r>
              <a:rPr lang="en-US" sz="22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JobSpy collection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g3fb3b5f08b9_3_0"/>
          <p:cNvSpPr/>
          <p:nvPr/>
        </p:nvSpPr>
        <p:spPr>
          <a:xfrm>
            <a:off x="762000" y="8963025"/>
            <a:ext cx="66675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5"/>
              <a:buFont typeface="Arial"/>
              <a:buNone/>
            </a:pPr>
            <a:r>
              <a:rPr lang="en-US" sz="2325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Dashboard snapshot coverage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g3fb3b5f08b9_3_0"/>
          <p:cNvSpPr/>
          <p:nvPr/>
        </p:nvSpPr>
        <p:spPr>
          <a:xfrm>
            <a:off x="762000" y="11125200"/>
            <a:ext cx="6667500" cy="3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75"/>
              <a:buFont typeface="Arial"/>
              <a:buNone/>
            </a:pPr>
            <a:r>
              <a:rPr lang="en-US" sz="18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55,616 records across 11 dated datasets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g3fb3b5f08b9_3_0"/>
          <p:cNvSpPr/>
          <p:nvPr/>
        </p:nvSpPr>
        <p:spPr>
          <a:xfrm>
            <a:off x="762000" y="11534775"/>
            <a:ext cx="6667500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Standardized metadata and</a:t>
            </a:r>
            <a:r>
              <a:rPr lang="en-US" sz="210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 remove</a:t>
            </a:r>
            <a:r>
              <a:rPr lang="en-US" sz="21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 duplicates. Used an </a:t>
            </a:r>
            <a:r>
              <a:rPr lang="en-US" sz="2100" b="1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LLM </a:t>
            </a:r>
            <a:r>
              <a:rPr lang="en-US" sz="21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with a</a:t>
            </a:r>
            <a:r>
              <a:rPr lang="en-US" sz="210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 structured output schema </a:t>
            </a:r>
            <a:r>
              <a:rPr lang="en-US" sz="21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to extract fields from job descriptions.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g3fb3b5f08b9_3_0"/>
          <p:cNvSpPr/>
          <p:nvPr/>
        </p:nvSpPr>
        <p:spPr>
          <a:xfrm>
            <a:off x="762000" y="12696825"/>
            <a:ext cx="66675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0"/>
              <a:buFont typeface="Arial"/>
              <a:buNone/>
            </a:pPr>
            <a:r>
              <a:rPr lang="en-US" sz="25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Extraction accuracy by field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g3fb3b5f08b9_3_0"/>
          <p:cNvSpPr/>
          <p:nvPr/>
        </p:nvSpPr>
        <p:spPr>
          <a:xfrm>
            <a:off x="762000" y="13182600"/>
            <a:ext cx="6667500" cy="638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GPT-5.1 vs human annotations · Bayt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n-US" sz="19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150 English + 150 Arabic postings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" name="Google Shape;54;g3fb3b5f08b9_3_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34524" y="13977938"/>
            <a:ext cx="6258365" cy="4943474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fb3b5f08b9_3_0"/>
          <p:cNvSpPr/>
          <p:nvPr/>
        </p:nvSpPr>
        <p:spPr>
          <a:xfrm>
            <a:off x="2428875" y="18731592"/>
            <a:ext cx="3524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Accuracy (%)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g3fb3b5f08b9_3_0"/>
          <p:cNvSpPr/>
          <p:nvPr/>
        </p:nvSpPr>
        <p:spPr>
          <a:xfrm>
            <a:off x="8096250" y="8813698"/>
            <a:ext cx="13811400" cy="53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Bilingual RAG methodology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" name="Google Shape;57;g3fb3b5f08b9_3_0"/>
          <p:cNvCxnSpPr/>
          <p:nvPr/>
        </p:nvCxnSpPr>
        <p:spPr>
          <a:xfrm>
            <a:off x="8096250" y="9437982"/>
            <a:ext cx="13811400" cy="0"/>
          </a:xfrm>
          <a:prstGeom prst="straightConnector1">
            <a:avLst/>
          </a:prstGeom>
          <a:noFill/>
          <a:ln w="28575" cap="flat" cmpd="sng">
            <a:solidFill>
              <a:srgbClr val="53BBD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" name="Google Shape;58;g3fb3b5f08b9_3_0"/>
          <p:cNvSpPr/>
          <p:nvPr/>
        </p:nvSpPr>
        <p:spPr>
          <a:xfrm>
            <a:off x="22574400" y="8813698"/>
            <a:ext cx="69438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Experiments &amp; results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" name="Google Shape;59;g3fb3b5f08b9_3_0"/>
          <p:cNvCxnSpPr/>
          <p:nvPr/>
        </p:nvCxnSpPr>
        <p:spPr>
          <a:xfrm>
            <a:off x="22574250" y="9449988"/>
            <a:ext cx="6943800" cy="0"/>
          </a:xfrm>
          <a:prstGeom prst="straightConnector1">
            <a:avLst/>
          </a:prstGeom>
          <a:noFill/>
          <a:ln w="28575" cap="flat" cmpd="sng">
            <a:solidFill>
              <a:srgbClr val="53BBD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" name="Google Shape;60;g3fb3b5f08b9_3_0"/>
          <p:cNvSpPr/>
          <p:nvPr/>
        </p:nvSpPr>
        <p:spPr>
          <a:xfrm>
            <a:off x="22574250" y="9670948"/>
            <a:ext cx="6943800" cy="6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Benchmark: </a:t>
            </a:r>
            <a:r>
              <a:rPr lang="en-US" sz="2025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Automated scenario evaluation</a:t>
            </a:r>
            <a:r>
              <a:rPr lang="en-US" sz="2025" b="0" i="0" u="none" strike="noStrike" cap="none">
                <a:solidFill>
                  <a:srgbClr val="223C47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b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25" b="1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26 English + 26 Arabic</a:t>
            </a:r>
            <a:r>
              <a:rPr lang="en-US" sz="2025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g3fb3b5f08b9_3_0"/>
          <p:cNvSpPr/>
          <p:nvPr/>
        </p:nvSpPr>
        <p:spPr>
          <a:xfrm>
            <a:off x="22574250" y="10438534"/>
            <a:ext cx="33147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51/52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fb3b5f08b9_3_0"/>
          <p:cNvSpPr/>
          <p:nvPr/>
        </p:nvSpPr>
        <p:spPr>
          <a:xfrm>
            <a:off x="22574250" y="11162434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Scenario checks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g3fb3b5f08b9_3_0"/>
          <p:cNvSpPr/>
          <p:nvPr/>
        </p:nvSpPr>
        <p:spPr>
          <a:xfrm>
            <a:off x="26165175" y="10438534"/>
            <a:ext cx="33147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34/34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g3fb3b5f08b9_3_0"/>
          <p:cNvSpPr/>
          <p:nvPr/>
        </p:nvSpPr>
        <p:spPr>
          <a:xfrm>
            <a:off x="26165175" y="11162434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Evidence availability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g3fb3b5f08b9_3_0"/>
          <p:cNvSpPr/>
          <p:nvPr/>
        </p:nvSpPr>
        <p:spPr>
          <a:xfrm>
            <a:off x="22574250" y="11562484"/>
            <a:ext cx="33147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52/52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g3fb3b5f08b9_3_0"/>
          <p:cNvSpPr/>
          <p:nvPr/>
        </p:nvSpPr>
        <p:spPr>
          <a:xfrm>
            <a:off x="22574250" y="12286384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Output language checks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g3fb3b5f08b9_3_0"/>
          <p:cNvSpPr/>
          <p:nvPr/>
        </p:nvSpPr>
        <p:spPr>
          <a:xfrm>
            <a:off x="26165175" y="11562484"/>
            <a:ext cx="3314700" cy="6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en-US" sz="4500" b="1" i="0" u="none" strike="noStrike" cap="none">
                <a:solidFill>
                  <a:srgbClr val="AD4D42"/>
                </a:solidFill>
                <a:latin typeface="Calibri"/>
                <a:ea typeface="Calibri"/>
                <a:cs typeface="Calibri"/>
                <a:sym typeface="Calibri"/>
              </a:rPr>
              <a:t>3/4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g3fb3b5f08b9_3_0"/>
          <p:cNvSpPr/>
          <p:nvPr/>
        </p:nvSpPr>
        <p:spPr>
          <a:xfrm>
            <a:off x="26165175" y="12286384"/>
            <a:ext cx="33147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lang="en-US" sz="2025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Safe abstention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" name="Google Shape;69;g3fb3b5f08b9_3_0"/>
          <p:cNvCxnSpPr/>
          <p:nvPr/>
        </p:nvCxnSpPr>
        <p:spPr>
          <a:xfrm>
            <a:off x="22574250" y="13322653"/>
            <a:ext cx="6943800" cy="0"/>
          </a:xfrm>
          <a:prstGeom prst="straightConnector1">
            <a:avLst/>
          </a:prstGeom>
          <a:noFill/>
          <a:ln w="152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0" name="Google Shape;70;g3fb3b5f08b9_3_0"/>
          <p:cNvSpPr/>
          <p:nvPr/>
        </p:nvSpPr>
        <p:spPr>
          <a:xfrm>
            <a:off x="22574250" y="12895984"/>
            <a:ext cx="69438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lang="en-US" sz="19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Platform conversation · Cropped excerpt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" name="Google Shape;71;g3fb3b5f08b9_3_0"/>
          <p:cNvPicPr preferRelativeResize="0"/>
          <p:nvPr/>
        </p:nvPicPr>
        <p:blipFill rotWithShape="1">
          <a:blip r:embed="rId8">
            <a:alphaModFix/>
          </a:blip>
          <a:srcRect l="53675" t="1748" r="1183" b="87762"/>
          <a:stretch/>
        </p:blipFill>
        <p:spPr>
          <a:xfrm>
            <a:off x="23336250" y="13453181"/>
            <a:ext cx="6181726" cy="97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g3fb3b5f08b9_3_0"/>
          <p:cNvPicPr preferRelativeResize="0"/>
          <p:nvPr/>
        </p:nvPicPr>
        <p:blipFill rotWithShape="1">
          <a:blip r:embed="rId9">
            <a:alphaModFix/>
          </a:blip>
          <a:srcRect l="3573" t="29719" r="41367" b="46241"/>
          <a:stretch/>
        </p:blipFill>
        <p:spPr>
          <a:xfrm>
            <a:off x="22574250" y="14529506"/>
            <a:ext cx="6286500" cy="23362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g3fb3b5f08b9_3_0"/>
          <p:cNvSpPr/>
          <p:nvPr/>
        </p:nvSpPr>
        <p:spPr>
          <a:xfrm>
            <a:off x="22726650" y="16929806"/>
            <a:ext cx="571500" cy="2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g3fb3b5f08b9_3_0"/>
          <p:cNvPicPr preferRelativeResize="0"/>
          <p:nvPr/>
        </p:nvPicPr>
        <p:blipFill rotWithShape="1">
          <a:blip r:embed="rId9">
            <a:alphaModFix/>
          </a:blip>
          <a:srcRect l="3573" t="84790" r="41367" b="11713"/>
          <a:stretch/>
        </p:blipFill>
        <p:spPr>
          <a:xfrm>
            <a:off x="22574250" y="17215556"/>
            <a:ext cx="6286500" cy="33981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g3fb3b5f08b9_3_0"/>
          <p:cNvSpPr/>
          <p:nvPr/>
        </p:nvSpPr>
        <p:spPr>
          <a:xfrm>
            <a:off x="22574250" y="18031759"/>
            <a:ext cx="69438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" name="Google Shape;76;g3fb3b5f08b9_3_0"/>
          <p:cNvCxnSpPr/>
          <p:nvPr/>
        </p:nvCxnSpPr>
        <p:spPr>
          <a:xfrm>
            <a:off x="22574250" y="18688984"/>
            <a:ext cx="6943800" cy="0"/>
          </a:xfrm>
          <a:prstGeom prst="straightConnector1">
            <a:avLst/>
          </a:prstGeom>
          <a:noFill/>
          <a:ln w="28575" cap="flat" cmpd="sng">
            <a:solidFill>
              <a:srgbClr val="53BBD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7" name="Google Shape;77;g3fb3b5f08b9_3_0"/>
          <p:cNvSpPr/>
          <p:nvPr/>
        </p:nvSpPr>
        <p:spPr>
          <a:xfrm>
            <a:off x="22574250" y="18793759"/>
            <a:ext cx="6943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Char char="•"/>
            </a:pPr>
            <a:r>
              <a:rPr lang="en-US" sz="19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Automate monthly collection, validation, cleaning and dashboard/index refreshes.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g3fb3b5f08b9_3_0"/>
          <p:cNvSpPr/>
          <p:nvPr/>
        </p:nvSpPr>
        <p:spPr>
          <a:xfrm>
            <a:off x="22574250" y="19431934"/>
            <a:ext cx="6943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Char char="•"/>
            </a:pPr>
            <a:r>
              <a:rPr lang="en-US" sz="19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Expand coverage across job sources, countries and comparable time periods.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fb3b5f08b9_3_0"/>
          <p:cNvSpPr/>
          <p:nvPr/>
        </p:nvSpPr>
        <p:spPr>
          <a:xfrm>
            <a:off x="22574250" y="20070109"/>
            <a:ext cx="6943800" cy="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Char char="•"/>
            </a:pPr>
            <a:r>
              <a:rPr lang="en-US" sz="19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Explore demand forecasting and market reports as longitudinal coverage improves.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g3fb3b5f08b9_3_0"/>
          <p:cNvSpPr/>
          <p:nvPr/>
        </p:nvSpPr>
        <p:spPr>
          <a:xfrm>
            <a:off x="762000" y="18935700"/>
            <a:ext cx="66675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" name="Google Shape;81;g3fb3b5f08b9_3_0"/>
          <p:cNvCxnSpPr/>
          <p:nvPr/>
        </p:nvCxnSpPr>
        <p:spPr>
          <a:xfrm>
            <a:off x="762000" y="19592925"/>
            <a:ext cx="6667500" cy="0"/>
          </a:xfrm>
          <a:prstGeom prst="straightConnector1">
            <a:avLst/>
          </a:prstGeom>
          <a:noFill/>
          <a:ln w="28575" cap="flat" cmpd="sng">
            <a:solidFill>
              <a:srgbClr val="53BBD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g3fb3b5f08b9_3_0"/>
          <p:cNvSpPr/>
          <p:nvPr/>
        </p:nvSpPr>
        <p:spPr>
          <a:xfrm>
            <a:off x="762000" y="19745325"/>
            <a:ext cx="51435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[1] Nguyen et al. (2024). Rethinking Skill Extraction in the Job Market Domain using Large Language Models. NLP4HR.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25"/>
              <a:buFont typeface="Arial"/>
              <a:buNone/>
            </a:pPr>
            <a:endParaRPr sz="1725" b="0" i="0" u="none" strike="noStrike" cap="none">
              <a:solidFill>
                <a:srgbClr val="223C4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6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[2] Myung et al. (2025). HyST: LLM-Powered Hybrid Retrieval over Semi-Structured Tabular Data. arXiv:2508.18048.</a:t>
            </a:r>
            <a:endParaRPr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3" name="Google Shape;83;g3fb3b5f08b9_3_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62675" y="19831050"/>
            <a:ext cx="1219200" cy="12192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3fb3b5f08b9_3_0"/>
          <p:cNvSpPr/>
          <p:nvPr/>
        </p:nvSpPr>
        <p:spPr>
          <a:xfrm>
            <a:off x="8096250" y="3286125"/>
            <a:ext cx="21421725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"/>
              <a:buFont typeface="Arial"/>
              <a:buNone/>
            </a:pPr>
            <a:r>
              <a:rPr lang="en-US" sz="345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Dashboard exploration: Per-country and aggre</a:t>
            </a:r>
            <a:r>
              <a:rPr lang="en-US" sz="34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gated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5" name="Google Shape;85;g3fb3b5f08b9_3_0"/>
          <p:cNvCxnSpPr/>
          <p:nvPr/>
        </p:nvCxnSpPr>
        <p:spPr>
          <a:xfrm>
            <a:off x="8096250" y="3943350"/>
            <a:ext cx="21421725" cy="0"/>
          </a:xfrm>
          <a:prstGeom prst="straightConnector1">
            <a:avLst/>
          </a:prstGeom>
          <a:noFill/>
          <a:ln w="28575" cap="flat" cmpd="sng">
            <a:solidFill>
              <a:srgbClr val="53BBD3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6" name="Google Shape;86;g3fb3b5f08b9_3_0"/>
          <p:cNvSpPr/>
          <p:nvPr/>
        </p:nvSpPr>
        <p:spPr>
          <a:xfrm>
            <a:off x="8096250" y="4171950"/>
            <a:ext cx="3476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Career level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g3fb3b5f08b9_3_0"/>
          <p:cNvSpPr/>
          <p:nvPr/>
        </p:nvSpPr>
        <p:spPr>
          <a:xfrm>
            <a:off x="8134350" y="6581775"/>
            <a:ext cx="114300" cy="114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g3fb3b5f08b9_3_0"/>
          <p:cNvSpPr/>
          <p:nvPr/>
        </p:nvSpPr>
        <p:spPr>
          <a:xfrm>
            <a:off x="8362950" y="65055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Senior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fb3b5f08b9_3_0"/>
          <p:cNvSpPr/>
          <p:nvPr/>
        </p:nvSpPr>
        <p:spPr>
          <a:xfrm>
            <a:off x="10191750" y="65055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K	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g3fb3b5f08b9_3_0"/>
          <p:cNvSpPr/>
          <p:nvPr/>
        </p:nvSpPr>
        <p:spPr>
          <a:xfrm>
            <a:off x="10877550" y="65055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fb3b5f08b9_3_0"/>
          <p:cNvSpPr/>
          <p:nvPr/>
        </p:nvSpPr>
        <p:spPr>
          <a:xfrm>
            <a:off x="8134350" y="6905625"/>
            <a:ext cx="114300" cy="1143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fb3b5f08b9_3_0"/>
          <p:cNvSpPr/>
          <p:nvPr/>
        </p:nvSpPr>
        <p:spPr>
          <a:xfrm>
            <a:off x="8362950" y="68294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Mid-Level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fb3b5f08b9_3_0"/>
          <p:cNvSpPr/>
          <p:nvPr/>
        </p:nvSpPr>
        <p:spPr>
          <a:xfrm>
            <a:off x="10191750" y="68294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fb3b5f08b9_3_0"/>
          <p:cNvSpPr/>
          <p:nvPr/>
        </p:nvSpPr>
        <p:spPr>
          <a:xfrm>
            <a:off x="10877550" y="68294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27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fb3b5f08b9_3_0"/>
          <p:cNvSpPr/>
          <p:nvPr/>
        </p:nvSpPr>
        <p:spPr>
          <a:xfrm>
            <a:off x="8134350" y="7229475"/>
            <a:ext cx="114300" cy="1143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fb3b5f08b9_3_0"/>
          <p:cNvSpPr/>
          <p:nvPr/>
        </p:nvSpPr>
        <p:spPr>
          <a:xfrm>
            <a:off x="8362950" y="71532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Entry-Level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fb3b5f08b9_3_0"/>
          <p:cNvSpPr/>
          <p:nvPr/>
        </p:nvSpPr>
        <p:spPr>
          <a:xfrm>
            <a:off x="10191750" y="71532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8.3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fb3b5f08b9_3_0"/>
          <p:cNvSpPr/>
          <p:nvPr/>
        </p:nvSpPr>
        <p:spPr>
          <a:xfrm>
            <a:off x="10877550" y="71532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24%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fb3b5f08b9_3_0"/>
          <p:cNvSpPr/>
          <p:nvPr/>
        </p:nvSpPr>
        <p:spPr>
          <a:xfrm>
            <a:off x="8134350" y="7553325"/>
            <a:ext cx="114300" cy="1143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fb3b5f08b9_3_0"/>
          <p:cNvSpPr/>
          <p:nvPr/>
        </p:nvSpPr>
        <p:spPr>
          <a:xfrm>
            <a:off x="8362950" y="74771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Manager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fb3b5f08b9_3_0"/>
          <p:cNvSpPr/>
          <p:nvPr/>
        </p:nvSpPr>
        <p:spPr>
          <a:xfrm>
            <a:off x="10191750" y="74771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1.3K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fb3b5f08b9_3_0"/>
          <p:cNvSpPr/>
          <p:nvPr/>
        </p:nvSpPr>
        <p:spPr>
          <a:xfrm>
            <a:off x="10877550" y="74771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3.7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fb3b5f08b9_3_0"/>
          <p:cNvSpPr/>
          <p:nvPr/>
        </p:nvSpPr>
        <p:spPr>
          <a:xfrm>
            <a:off x="8134350" y="7877175"/>
            <a:ext cx="114300" cy="1143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fb3b5f08b9_3_0"/>
          <p:cNvSpPr/>
          <p:nvPr/>
        </p:nvSpPr>
        <p:spPr>
          <a:xfrm>
            <a:off x="8362950" y="78009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not applicable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fb3b5f08b9_3_0"/>
          <p:cNvSpPr/>
          <p:nvPr/>
        </p:nvSpPr>
        <p:spPr>
          <a:xfrm>
            <a:off x="10191750" y="78009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904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g3fb3b5f08b9_3_0"/>
          <p:cNvSpPr/>
          <p:nvPr/>
        </p:nvSpPr>
        <p:spPr>
          <a:xfrm>
            <a:off x="10877550" y="78009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2.6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fb3b5f08b9_3_0"/>
          <p:cNvSpPr/>
          <p:nvPr/>
        </p:nvSpPr>
        <p:spPr>
          <a:xfrm>
            <a:off x="8134350" y="8201025"/>
            <a:ext cx="114300" cy="1143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g3fb3b5f08b9_3_0"/>
          <p:cNvSpPr/>
          <p:nvPr/>
        </p:nvSpPr>
        <p:spPr>
          <a:xfrm>
            <a:off x="8362950" y="81248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Director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g3fb3b5f08b9_3_0"/>
          <p:cNvSpPr/>
          <p:nvPr/>
        </p:nvSpPr>
        <p:spPr>
          <a:xfrm>
            <a:off x="10191750" y="81248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702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g3fb3b5f08b9_3_0"/>
          <p:cNvSpPr/>
          <p:nvPr/>
        </p:nvSpPr>
        <p:spPr>
          <a:xfrm>
            <a:off x="10877550" y="81248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2.0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fb3b5f08b9_3_0"/>
          <p:cNvSpPr/>
          <p:nvPr/>
        </p:nvSpPr>
        <p:spPr>
          <a:xfrm>
            <a:off x="11763375" y="4171950"/>
            <a:ext cx="3476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Employment 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b3b5f08b9_3_0"/>
          <p:cNvSpPr/>
          <p:nvPr/>
        </p:nvSpPr>
        <p:spPr>
          <a:xfrm>
            <a:off x="11801475" y="6581775"/>
            <a:ext cx="114300" cy="114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fb3b5f08b9_3_0"/>
          <p:cNvSpPr/>
          <p:nvPr/>
        </p:nvSpPr>
        <p:spPr>
          <a:xfrm>
            <a:off x="12030075" y="65055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Full-Time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3fb3b5f08b9_3_0"/>
          <p:cNvSpPr/>
          <p:nvPr/>
        </p:nvSpPr>
        <p:spPr>
          <a:xfrm>
            <a:off x="13858875" y="65055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fb3b5f08b9_3_0"/>
          <p:cNvSpPr/>
          <p:nvPr/>
        </p:nvSpPr>
        <p:spPr>
          <a:xfrm>
            <a:off x="14544675" y="65055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86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fb3b5f08b9_3_0"/>
          <p:cNvSpPr/>
          <p:nvPr/>
        </p:nvSpPr>
        <p:spPr>
          <a:xfrm>
            <a:off x="11801475" y="6905625"/>
            <a:ext cx="114300" cy="1143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fb3b5f08b9_3_0"/>
          <p:cNvSpPr/>
          <p:nvPr/>
        </p:nvSpPr>
        <p:spPr>
          <a:xfrm>
            <a:off x="12030075" y="68294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Contract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fb3b5f08b9_3_0"/>
          <p:cNvSpPr/>
          <p:nvPr/>
        </p:nvSpPr>
        <p:spPr>
          <a:xfrm>
            <a:off x="13858875" y="68294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1.4K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fb3b5f08b9_3_0"/>
          <p:cNvSpPr/>
          <p:nvPr/>
        </p:nvSpPr>
        <p:spPr>
          <a:xfrm>
            <a:off x="14544675" y="68294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6.6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b3b5f08b9_3_0"/>
          <p:cNvSpPr/>
          <p:nvPr/>
        </p:nvSpPr>
        <p:spPr>
          <a:xfrm>
            <a:off x="11801475" y="7229475"/>
            <a:ext cx="114300" cy="1143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fb3b5f08b9_3_0"/>
          <p:cNvSpPr/>
          <p:nvPr/>
        </p:nvSpPr>
        <p:spPr>
          <a:xfrm>
            <a:off x="12030075" y="71532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Internship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g3fb3b5f08b9_3_0"/>
          <p:cNvSpPr/>
          <p:nvPr/>
        </p:nvSpPr>
        <p:spPr>
          <a:xfrm>
            <a:off x="13858875" y="71532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560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fb3b5f08b9_3_0"/>
          <p:cNvSpPr/>
          <p:nvPr/>
        </p:nvSpPr>
        <p:spPr>
          <a:xfrm>
            <a:off x="14544675" y="71532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2.6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g3fb3b5f08b9_3_0"/>
          <p:cNvSpPr/>
          <p:nvPr/>
        </p:nvSpPr>
        <p:spPr>
          <a:xfrm>
            <a:off x="11801475" y="7553325"/>
            <a:ext cx="114300" cy="1143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fb3b5f08b9_3_0"/>
          <p:cNvSpPr/>
          <p:nvPr/>
        </p:nvSpPr>
        <p:spPr>
          <a:xfrm>
            <a:off x="12030075" y="74771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Part-Time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g3fb3b5f08b9_3_0"/>
          <p:cNvSpPr/>
          <p:nvPr/>
        </p:nvSpPr>
        <p:spPr>
          <a:xfrm>
            <a:off x="13858875" y="74771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343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fb3b5f08b9_3_0"/>
          <p:cNvSpPr/>
          <p:nvPr/>
        </p:nvSpPr>
        <p:spPr>
          <a:xfrm>
            <a:off x="14544675" y="74771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.6%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g3fb3b5f08b9_3_0"/>
          <p:cNvSpPr/>
          <p:nvPr/>
        </p:nvSpPr>
        <p:spPr>
          <a:xfrm>
            <a:off x="11801475" y="7877175"/>
            <a:ext cx="114300" cy="1143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g3fb3b5f08b9_3_0"/>
          <p:cNvSpPr/>
          <p:nvPr/>
        </p:nvSpPr>
        <p:spPr>
          <a:xfrm>
            <a:off x="12030075" y="78009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Remote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fb3b5f08b9_3_0"/>
          <p:cNvSpPr/>
          <p:nvPr/>
        </p:nvSpPr>
        <p:spPr>
          <a:xfrm>
            <a:off x="13858875" y="78009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238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fb3b5f08b9_3_0"/>
          <p:cNvSpPr/>
          <p:nvPr/>
        </p:nvSpPr>
        <p:spPr>
          <a:xfrm>
            <a:off x="14544675" y="78009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1.1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fb3b5f08b9_3_0"/>
          <p:cNvSpPr/>
          <p:nvPr/>
        </p:nvSpPr>
        <p:spPr>
          <a:xfrm>
            <a:off x="11801475" y="8201025"/>
            <a:ext cx="114300" cy="1143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fb3b5f08b9_3_0"/>
          <p:cNvSpPr/>
          <p:nvPr/>
        </p:nvSpPr>
        <p:spPr>
          <a:xfrm>
            <a:off x="12030075" y="81248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Freelance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fb3b5f08b9_3_0"/>
          <p:cNvSpPr/>
          <p:nvPr/>
        </p:nvSpPr>
        <p:spPr>
          <a:xfrm>
            <a:off x="13858875" y="81248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207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fb3b5f08b9_3_0"/>
          <p:cNvSpPr/>
          <p:nvPr/>
        </p:nvSpPr>
        <p:spPr>
          <a:xfrm>
            <a:off x="14544675" y="81248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.0%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fb3b5f08b9_3_0"/>
          <p:cNvSpPr/>
          <p:nvPr/>
        </p:nvSpPr>
        <p:spPr>
          <a:xfrm>
            <a:off x="15430500" y="4171950"/>
            <a:ext cx="34766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1" i="0" u="none" strike="noStrike" cap="none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Education requirements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fb3b5f08b9_3_0"/>
          <p:cNvSpPr/>
          <p:nvPr/>
        </p:nvSpPr>
        <p:spPr>
          <a:xfrm>
            <a:off x="15468600" y="6581775"/>
            <a:ext cx="114300" cy="1143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fb3b5f08b9_3_0"/>
          <p:cNvSpPr/>
          <p:nvPr/>
        </p:nvSpPr>
        <p:spPr>
          <a:xfrm>
            <a:off x="15697200" y="65055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Bachelor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fb3b5f08b9_3_0"/>
          <p:cNvSpPr/>
          <p:nvPr/>
        </p:nvSpPr>
        <p:spPr>
          <a:xfrm>
            <a:off x="17526000" y="65055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32.9</a:t>
            </a: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fb3b5f08b9_3_0"/>
          <p:cNvSpPr/>
          <p:nvPr/>
        </p:nvSpPr>
        <p:spPr>
          <a:xfrm>
            <a:off x="18211800" y="65055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g3fb3b5f08b9_3_0"/>
          <p:cNvSpPr/>
          <p:nvPr/>
        </p:nvSpPr>
        <p:spPr>
          <a:xfrm>
            <a:off x="15468600" y="6905625"/>
            <a:ext cx="114300" cy="114300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g3fb3b5f08b9_3_0"/>
          <p:cNvSpPr/>
          <p:nvPr/>
        </p:nvSpPr>
        <p:spPr>
          <a:xfrm>
            <a:off x="15697200" y="68294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High School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fb3b5f08b9_3_0"/>
          <p:cNvSpPr/>
          <p:nvPr/>
        </p:nvSpPr>
        <p:spPr>
          <a:xfrm>
            <a:off x="17526000" y="68294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2.2K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g3fb3b5f08b9_3_0"/>
          <p:cNvSpPr/>
          <p:nvPr/>
        </p:nvSpPr>
        <p:spPr>
          <a:xfrm>
            <a:off x="18211800" y="68294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fb3b5f08b9_3_0"/>
          <p:cNvSpPr/>
          <p:nvPr/>
        </p:nvSpPr>
        <p:spPr>
          <a:xfrm>
            <a:off x="15468600" y="7229475"/>
            <a:ext cx="114300" cy="1143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fb3b5f08b9_3_0"/>
          <p:cNvSpPr/>
          <p:nvPr/>
        </p:nvSpPr>
        <p:spPr>
          <a:xfrm>
            <a:off x="15697200" y="715327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Diploma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g3fb3b5f08b9_3_0"/>
          <p:cNvSpPr/>
          <p:nvPr/>
        </p:nvSpPr>
        <p:spPr>
          <a:xfrm>
            <a:off x="17526000" y="71532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1.8K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fb3b5f08b9_3_0"/>
          <p:cNvSpPr/>
          <p:nvPr/>
        </p:nvSpPr>
        <p:spPr>
          <a:xfrm>
            <a:off x="18211800" y="71532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4.4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fb3b5f08b9_3_0"/>
          <p:cNvSpPr/>
          <p:nvPr/>
        </p:nvSpPr>
        <p:spPr>
          <a:xfrm>
            <a:off x="15468600" y="7553325"/>
            <a:ext cx="114300" cy="1143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g3fb3b5f08b9_3_0"/>
          <p:cNvSpPr/>
          <p:nvPr/>
        </p:nvSpPr>
        <p:spPr>
          <a:xfrm>
            <a:off x="15697200" y="74771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Master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g3fb3b5f08b9_3_0"/>
          <p:cNvSpPr/>
          <p:nvPr/>
        </p:nvSpPr>
        <p:spPr>
          <a:xfrm>
            <a:off x="17526000" y="74771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672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fb3b5f08b9_3_0"/>
          <p:cNvSpPr/>
          <p:nvPr/>
        </p:nvSpPr>
        <p:spPr>
          <a:xfrm>
            <a:off x="18211800" y="74771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1.6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fb3b5f08b9_3_0"/>
          <p:cNvSpPr/>
          <p:nvPr/>
        </p:nvSpPr>
        <p:spPr>
          <a:xfrm>
            <a:off x="15468600" y="7877175"/>
            <a:ext cx="114300" cy="11430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fb3b5f08b9_3_0"/>
          <p:cNvSpPr/>
          <p:nvPr/>
        </p:nvSpPr>
        <p:spPr>
          <a:xfrm>
            <a:off x="15697200" y="7800975"/>
            <a:ext cx="1752600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Bachelor’s degree /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higher diploma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fb3b5f08b9_3_0"/>
          <p:cNvSpPr/>
          <p:nvPr/>
        </p:nvSpPr>
        <p:spPr>
          <a:xfrm>
            <a:off x="17526000" y="78009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343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g3fb3b5f08b9_3_0"/>
          <p:cNvSpPr/>
          <p:nvPr/>
        </p:nvSpPr>
        <p:spPr>
          <a:xfrm>
            <a:off x="18211800" y="780097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0.8</a:t>
            </a: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g3fb3b5f08b9_3_0"/>
          <p:cNvSpPr/>
          <p:nvPr/>
        </p:nvSpPr>
        <p:spPr>
          <a:xfrm>
            <a:off x="15468600" y="8505825"/>
            <a:ext cx="114300" cy="1143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fb3b5f08b9_3_0"/>
          <p:cNvSpPr/>
          <p:nvPr/>
        </p:nvSpPr>
        <p:spPr>
          <a:xfrm>
            <a:off x="15697200" y="8429625"/>
            <a:ext cx="17526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PhD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fb3b5f08b9_3_0"/>
          <p:cNvSpPr/>
          <p:nvPr/>
        </p:nvSpPr>
        <p:spPr>
          <a:xfrm>
            <a:off x="17526000" y="84296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>
                <a:solidFill>
                  <a:srgbClr val="223C47"/>
                </a:solidFill>
                <a:latin typeface="Calibri"/>
                <a:ea typeface="Calibri"/>
                <a:cs typeface="Calibri"/>
                <a:sym typeface="Calibri"/>
              </a:rPr>
              <a:t>330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g3fb3b5f08b9_3_0"/>
          <p:cNvSpPr/>
          <p:nvPr/>
        </p:nvSpPr>
        <p:spPr>
          <a:xfrm>
            <a:off x="18211800" y="8429625"/>
            <a:ext cx="6191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lang="en-US" sz="165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0.8%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fb3b5f08b9_3_0"/>
          <p:cNvSpPr/>
          <p:nvPr/>
        </p:nvSpPr>
        <p:spPr>
          <a:xfrm>
            <a:off x="5943600" y="21069300"/>
            <a:ext cx="16573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500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Reference library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fb3b5f08b9_3_0"/>
          <p:cNvSpPr/>
          <p:nvPr/>
        </p:nvSpPr>
        <p:spPr>
          <a:xfrm>
            <a:off x="26098500" y="4114800"/>
            <a:ext cx="3419475" cy="438150"/>
          </a:xfrm>
          <a:prstGeom prst="rect">
            <a:avLst/>
          </a:prstGeom>
          <a:solidFill>
            <a:srgbClr val="EFF7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g3fb3b5f08b9_3_0"/>
          <p:cNvSpPr/>
          <p:nvPr/>
        </p:nvSpPr>
        <p:spPr>
          <a:xfrm>
            <a:off x="26231850" y="4086225"/>
            <a:ext cx="3333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65" name="Google Shape;165;g3fb3b5f08b9_3_0"/>
          <p:cNvSpPr/>
          <p:nvPr/>
        </p:nvSpPr>
        <p:spPr>
          <a:xfrm>
            <a:off x="26727150" y="4181475"/>
            <a:ext cx="2695575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countries</a:t>
            </a:r>
            <a:endParaRPr/>
          </a:p>
        </p:txBody>
      </p:sp>
      <p:sp>
        <p:nvSpPr>
          <p:cNvPr id="166" name="Google Shape;166;g3fb3b5f08b9_3_0"/>
          <p:cNvSpPr/>
          <p:nvPr/>
        </p:nvSpPr>
        <p:spPr>
          <a:xfrm>
            <a:off x="19240500" y="4114800"/>
            <a:ext cx="3333750" cy="438150"/>
          </a:xfrm>
          <a:prstGeom prst="rect">
            <a:avLst/>
          </a:prstGeom>
          <a:solidFill>
            <a:srgbClr val="EFF7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g3fb3b5f08b9_3_0"/>
          <p:cNvSpPr/>
          <p:nvPr/>
        </p:nvSpPr>
        <p:spPr>
          <a:xfrm>
            <a:off x="19373850" y="4086225"/>
            <a:ext cx="10002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r>
              <a:rPr lang="en-US" sz="2700" b="1" i="0" u="none" strike="noStrike" cap="none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lang="en-US" sz="2700" b="1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lang="en-US" sz="2700" b="1" i="0" u="none" strike="noStrike" cap="none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endParaRPr/>
          </a:p>
        </p:txBody>
      </p:sp>
      <p:sp>
        <p:nvSpPr>
          <p:cNvPr id="168" name="Google Shape;168;g3fb3b5f08b9_3_0"/>
          <p:cNvSpPr/>
          <p:nvPr/>
        </p:nvSpPr>
        <p:spPr>
          <a:xfrm>
            <a:off x="20450175" y="4181475"/>
            <a:ext cx="2028825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0" i="0" u="none" strike="noStrike" cap="none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postings</a:t>
            </a:r>
            <a:endParaRPr/>
          </a:p>
        </p:txBody>
      </p:sp>
      <p:sp>
        <p:nvSpPr>
          <p:cNvPr id="169" name="Google Shape;169;g3fb3b5f08b9_3_0"/>
          <p:cNvSpPr/>
          <p:nvPr/>
        </p:nvSpPr>
        <p:spPr>
          <a:xfrm>
            <a:off x="22860000" y="4114800"/>
            <a:ext cx="2952750" cy="438150"/>
          </a:xfrm>
          <a:prstGeom prst="rect">
            <a:avLst/>
          </a:prstGeom>
          <a:solidFill>
            <a:srgbClr val="EFF7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g3fb3b5f08b9_3_0"/>
          <p:cNvSpPr/>
          <p:nvPr/>
        </p:nvSpPr>
        <p:spPr>
          <a:xfrm>
            <a:off x="22993350" y="4086225"/>
            <a:ext cx="828600" cy="47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71" name="Google Shape;171;g3fb3b5f08b9_3_0"/>
          <p:cNvSpPr/>
          <p:nvPr/>
        </p:nvSpPr>
        <p:spPr>
          <a:xfrm>
            <a:off x="23488650" y="4181475"/>
            <a:ext cx="222885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platforms</a:t>
            </a:r>
            <a:endParaRPr/>
          </a:p>
        </p:txBody>
      </p:sp>
      <p:sp>
        <p:nvSpPr>
          <p:cNvPr id="172" name="Google Shape;172;g3fb3b5f08b9_3_0"/>
          <p:cNvSpPr/>
          <p:nvPr/>
        </p:nvSpPr>
        <p:spPr>
          <a:xfrm>
            <a:off x="21084048" y="2268425"/>
            <a:ext cx="1439400" cy="4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Project code</a:t>
            </a:r>
            <a:endParaRPr/>
          </a:p>
        </p:txBody>
      </p:sp>
      <p:pic>
        <p:nvPicPr>
          <p:cNvPr id="173" name="Google Shape;173;g3fb3b5f08b9_3_0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621875" y="1294280"/>
            <a:ext cx="1439396" cy="14393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g3fb3b5f08b9_3_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349215" y="1463618"/>
            <a:ext cx="909066" cy="88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g3fb3b5f08b9_3_0"/>
          <p:cNvPicPr preferRelativeResize="0"/>
          <p:nvPr/>
        </p:nvPicPr>
        <p:blipFill rotWithShape="1">
          <a:blip r:embed="rId14">
            <a:alphaModFix/>
          </a:blip>
          <a:srcRect t="9690"/>
          <a:stretch/>
        </p:blipFill>
        <p:spPr>
          <a:xfrm>
            <a:off x="8796325" y="4533888"/>
            <a:ext cx="2076450" cy="195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fb3b5f08b9_3_0"/>
          <p:cNvPicPr preferRelativeResize="0"/>
          <p:nvPr/>
        </p:nvPicPr>
        <p:blipFill rotWithShape="1">
          <a:blip r:embed="rId15">
            <a:alphaModFix/>
          </a:blip>
          <a:srcRect t="4617"/>
          <a:stretch/>
        </p:blipFill>
        <p:spPr>
          <a:xfrm>
            <a:off x="12406288" y="4560976"/>
            <a:ext cx="2047875" cy="187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g3fb3b5f08b9_3_0"/>
          <p:cNvPicPr preferRelativeResize="0"/>
          <p:nvPr/>
        </p:nvPicPr>
        <p:blipFill rotWithShape="1">
          <a:blip r:embed="rId16">
            <a:alphaModFix/>
          </a:blip>
          <a:srcRect l="1488"/>
          <a:stretch/>
        </p:blipFill>
        <p:spPr>
          <a:xfrm>
            <a:off x="16112161" y="4490623"/>
            <a:ext cx="1895400" cy="198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g3fb3b5f08b9_3_0"/>
          <p:cNvSpPr/>
          <p:nvPr/>
        </p:nvSpPr>
        <p:spPr>
          <a:xfrm>
            <a:off x="8088419" y="9721950"/>
            <a:ext cx="1381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System overview</a:t>
            </a:r>
            <a:endParaRPr/>
          </a:p>
        </p:txBody>
      </p:sp>
      <p:sp>
        <p:nvSpPr>
          <p:cNvPr id="179" name="Google Shape;179;g3fb3b5f08b9_3_0"/>
          <p:cNvSpPr/>
          <p:nvPr/>
        </p:nvSpPr>
        <p:spPr>
          <a:xfrm>
            <a:off x="8088419" y="10179150"/>
            <a:ext cx="76677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PREPARATION &amp; INDEXING</a:t>
            </a:r>
            <a:endParaRPr/>
          </a:p>
        </p:txBody>
      </p:sp>
      <p:sp>
        <p:nvSpPr>
          <p:cNvPr id="180" name="Google Shape;180;g3fb3b5f08b9_3_0"/>
          <p:cNvSpPr/>
          <p:nvPr/>
        </p:nvSpPr>
        <p:spPr>
          <a:xfrm>
            <a:off x="16184669" y="10179150"/>
            <a:ext cx="5715000" cy="3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QUESTION ANSWERING</a:t>
            </a:r>
            <a:endParaRPr/>
          </a:p>
        </p:txBody>
      </p:sp>
      <p:sp>
        <p:nvSpPr>
          <p:cNvPr id="181" name="Google Shape;181;g3fb3b5f08b9_3_0"/>
          <p:cNvSpPr/>
          <p:nvPr/>
        </p:nvSpPr>
        <p:spPr>
          <a:xfrm>
            <a:off x="8821844" y="10569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7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g3fb3b5f08b9_3_0"/>
          <p:cNvSpPr/>
          <p:nvPr/>
        </p:nvSpPr>
        <p:spPr>
          <a:xfrm>
            <a:off x="8821844" y="10588725"/>
            <a:ext cx="34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83" name="Google Shape;183;g3fb3b5f08b9_3_0"/>
          <p:cNvSpPr/>
          <p:nvPr/>
        </p:nvSpPr>
        <p:spPr>
          <a:xfrm>
            <a:off x="925951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3fb3b5f08b9_3_0"/>
          <p:cNvSpPr/>
          <p:nvPr/>
        </p:nvSpPr>
        <p:spPr>
          <a:xfrm>
            <a:off x="1072636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85" name="Google Shape;185;g3fb3b5f08b9_3_0"/>
          <p:cNvCxnSpPr>
            <a:stCxn id="183" idx="3"/>
            <a:endCxn id="184" idx="1"/>
          </p:cNvCxnSpPr>
          <p:nvPr/>
        </p:nvCxnSpPr>
        <p:spPr>
          <a:xfrm>
            <a:off x="9260418" y="10741099"/>
            <a:ext cx="1466100" cy="0"/>
          </a:xfrm>
          <a:prstGeom prst="straightConnector1">
            <a:avLst/>
          </a:prstGeom>
          <a:noFill/>
          <a:ln w="38100" cap="flat" cmpd="sng">
            <a:solidFill>
              <a:srgbClr val="0F718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86" name="Google Shape;186;g3fb3b5f08b9_3_0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8717069" y="11017350"/>
            <a:ext cx="552451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g3fb3b5f08b9_3_0"/>
          <p:cNvSpPr/>
          <p:nvPr/>
        </p:nvSpPr>
        <p:spPr>
          <a:xfrm>
            <a:off x="8050319" y="11636475"/>
            <a:ext cx="1895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Validated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/>
          </a:p>
        </p:txBody>
      </p:sp>
      <p:sp>
        <p:nvSpPr>
          <p:cNvPr id="188" name="Google Shape;188;g3fb3b5f08b9_3_0"/>
          <p:cNvSpPr/>
          <p:nvPr/>
        </p:nvSpPr>
        <p:spPr>
          <a:xfrm>
            <a:off x="10822094" y="10569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7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g3fb3b5f08b9_3_0"/>
          <p:cNvSpPr/>
          <p:nvPr/>
        </p:nvSpPr>
        <p:spPr>
          <a:xfrm>
            <a:off x="10822094" y="10588725"/>
            <a:ext cx="34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90" name="Google Shape;190;g3fb3b5f08b9_3_0"/>
          <p:cNvSpPr/>
          <p:nvPr/>
        </p:nvSpPr>
        <p:spPr>
          <a:xfrm>
            <a:off x="1125976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3fb3b5f08b9_3_0"/>
          <p:cNvSpPr/>
          <p:nvPr/>
        </p:nvSpPr>
        <p:spPr>
          <a:xfrm>
            <a:off x="1272661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2" name="Google Shape;192;g3fb3b5f08b9_3_0"/>
          <p:cNvCxnSpPr>
            <a:stCxn id="190" idx="3"/>
            <a:endCxn id="191" idx="1"/>
          </p:cNvCxnSpPr>
          <p:nvPr/>
        </p:nvCxnSpPr>
        <p:spPr>
          <a:xfrm>
            <a:off x="11260668" y="10741099"/>
            <a:ext cx="1466100" cy="0"/>
          </a:xfrm>
          <a:prstGeom prst="straightConnector1">
            <a:avLst/>
          </a:prstGeom>
          <a:noFill/>
          <a:ln w="38100" cap="flat" cmpd="sng">
            <a:solidFill>
              <a:srgbClr val="0F718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193" name="Google Shape;193;g3fb3b5f08b9_3_0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10717319" y="11017350"/>
            <a:ext cx="552451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g3fb3b5f08b9_3_0"/>
          <p:cNvSpPr/>
          <p:nvPr/>
        </p:nvSpPr>
        <p:spPr>
          <a:xfrm>
            <a:off x="10050569" y="11636475"/>
            <a:ext cx="1895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Job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document</a:t>
            </a:r>
            <a:endParaRPr/>
          </a:p>
        </p:txBody>
      </p:sp>
      <p:sp>
        <p:nvSpPr>
          <p:cNvPr id="195" name="Google Shape;195;g3fb3b5f08b9_3_0"/>
          <p:cNvSpPr/>
          <p:nvPr/>
        </p:nvSpPr>
        <p:spPr>
          <a:xfrm>
            <a:off x="12822344" y="10569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7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g3fb3b5f08b9_3_0"/>
          <p:cNvSpPr/>
          <p:nvPr/>
        </p:nvSpPr>
        <p:spPr>
          <a:xfrm>
            <a:off x="12822344" y="10588725"/>
            <a:ext cx="34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97" name="Google Shape;197;g3fb3b5f08b9_3_0"/>
          <p:cNvSpPr/>
          <p:nvPr/>
        </p:nvSpPr>
        <p:spPr>
          <a:xfrm>
            <a:off x="1326001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g3fb3b5f08b9_3_0"/>
          <p:cNvSpPr/>
          <p:nvPr/>
        </p:nvSpPr>
        <p:spPr>
          <a:xfrm>
            <a:off x="1472686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99" name="Google Shape;199;g3fb3b5f08b9_3_0"/>
          <p:cNvCxnSpPr>
            <a:stCxn id="197" idx="3"/>
            <a:endCxn id="198" idx="1"/>
          </p:cNvCxnSpPr>
          <p:nvPr/>
        </p:nvCxnSpPr>
        <p:spPr>
          <a:xfrm>
            <a:off x="13260918" y="10741099"/>
            <a:ext cx="1466100" cy="0"/>
          </a:xfrm>
          <a:prstGeom prst="straightConnector1">
            <a:avLst/>
          </a:prstGeom>
          <a:noFill/>
          <a:ln w="38100" cap="flat" cmpd="sng">
            <a:solidFill>
              <a:srgbClr val="0F718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00" name="Google Shape;200;g3fb3b5f08b9_3_0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12717569" y="11017350"/>
            <a:ext cx="552451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g3fb3b5f08b9_3_0"/>
          <p:cNvSpPr/>
          <p:nvPr/>
        </p:nvSpPr>
        <p:spPr>
          <a:xfrm>
            <a:off x="12050819" y="11636475"/>
            <a:ext cx="1895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Multilingual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embeddings</a:t>
            </a:r>
            <a:endParaRPr/>
          </a:p>
        </p:txBody>
      </p:sp>
      <p:sp>
        <p:nvSpPr>
          <p:cNvPr id="202" name="Google Shape;202;g3fb3b5f08b9_3_0"/>
          <p:cNvSpPr/>
          <p:nvPr/>
        </p:nvSpPr>
        <p:spPr>
          <a:xfrm>
            <a:off x="14822594" y="10569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7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g3fb3b5f08b9_3_0"/>
          <p:cNvSpPr/>
          <p:nvPr/>
        </p:nvSpPr>
        <p:spPr>
          <a:xfrm>
            <a:off x="14822594" y="10588725"/>
            <a:ext cx="34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pic>
        <p:nvPicPr>
          <p:cNvPr id="204" name="Google Shape;204;g3fb3b5f08b9_3_0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14754741" y="11017350"/>
            <a:ext cx="478605" cy="552449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3fb3b5f08b9_3_0"/>
          <p:cNvSpPr/>
          <p:nvPr/>
        </p:nvSpPr>
        <p:spPr>
          <a:xfrm>
            <a:off x="14051069" y="11636475"/>
            <a:ext cx="1895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/>
          </a:p>
        </p:txBody>
      </p:sp>
      <p:sp>
        <p:nvSpPr>
          <p:cNvPr id="206" name="Google Shape;206;g3fb3b5f08b9_3_0"/>
          <p:cNvSpPr/>
          <p:nvPr/>
        </p:nvSpPr>
        <p:spPr>
          <a:xfrm>
            <a:off x="16822844" y="10569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7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g3fb3b5f08b9_3_0"/>
          <p:cNvSpPr/>
          <p:nvPr/>
        </p:nvSpPr>
        <p:spPr>
          <a:xfrm>
            <a:off x="16822844" y="10588725"/>
            <a:ext cx="34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8" name="Google Shape;208;g3fb3b5f08b9_3_0"/>
          <p:cNvSpPr/>
          <p:nvPr/>
        </p:nvSpPr>
        <p:spPr>
          <a:xfrm>
            <a:off x="1726051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fb3b5f08b9_3_0"/>
          <p:cNvSpPr/>
          <p:nvPr/>
        </p:nvSpPr>
        <p:spPr>
          <a:xfrm>
            <a:off x="1872736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0" name="Google Shape;210;g3fb3b5f08b9_3_0"/>
          <p:cNvCxnSpPr>
            <a:stCxn id="208" idx="3"/>
            <a:endCxn id="209" idx="1"/>
          </p:cNvCxnSpPr>
          <p:nvPr/>
        </p:nvCxnSpPr>
        <p:spPr>
          <a:xfrm>
            <a:off x="17261418" y="10741099"/>
            <a:ext cx="1466100" cy="0"/>
          </a:xfrm>
          <a:prstGeom prst="straightConnector1">
            <a:avLst/>
          </a:prstGeom>
          <a:noFill/>
          <a:ln w="38100" cap="flat" cmpd="sng">
            <a:solidFill>
              <a:srgbClr val="0F718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11" name="Google Shape;211;g3fb3b5f08b9_3_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6718069" y="11017350"/>
            <a:ext cx="552451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g3fb3b5f08b9_3_0"/>
          <p:cNvSpPr/>
          <p:nvPr/>
        </p:nvSpPr>
        <p:spPr>
          <a:xfrm>
            <a:off x="16051319" y="11636475"/>
            <a:ext cx="1895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/>
          </a:p>
        </p:txBody>
      </p:sp>
      <p:sp>
        <p:nvSpPr>
          <p:cNvPr id="213" name="Google Shape;213;g3fb3b5f08b9_3_0"/>
          <p:cNvSpPr/>
          <p:nvPr/>
        </p:nvSpPr>
        <p:spPr>
          <a:xfrm>
            <a:off x="18823094" y="10569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7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g3fb3b5f08b9_3_0"/>
          <p:cNvSpPr/>
          <p:nvPr/>
        </p:nvSpPr>
        <p:spPr>
          <a:xfrm>
            <a:off x="18823094" y="10588725"/>
            <a:ext cx="34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15" name="Google Shape;215;g3fb3b5f08b9_3_0"/>
          <p:cNvSpPr/>
          <p:nvPr/>
        </p:nvSpPr>
        <p:spPr>
          <a:xfrm>
            <a:off x="1926076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g3fb3b5f08b9_3_0"/>
          <p:cNvSpPr/>
          <p:nvPr/>
        </p:nvSpPr>
        <p:spPr>
          <a:xfrm>
            <a:off x="20727618" y="107406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17" name="Google Shape;217;g3fb3b5f08b9_3_0"/>
          <p:cNvCxnSpPr>
            <a:stCxn id="215" idx="3"/>
            <a:endCxn id="216" idx="1"/>
          </p:cNvCxnSpPr>
          <p:nvPr/>
        </p:nvCxnSpPr>
        <p:spPr>
          <a:xfrm>
            <a:off x="19261668" y="10741099"/>
            <a:ext cx="1466100" cy="0"/>
          </a:xfrm>
          <a:prstGeom prst="straightConnector1">
            <a:avLst/>
          </a:prstGeom>
          <a:noFill/>
          <a:ln w="38100" cap="flat" cmpd="sng">
            <a:solidFill>
              <a:srgbClr val="0F7180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18" name="Google Shape;218;g3fb3b5f08b9_3_0"/>
          <p:cNvPicPr preferRelativeResize="0"/>
          <p:nvPr/>
        </p:nvPicPr>
        <p:blipFill rotWithShape="1">
          <a:blip r:embed="rId22">
            <a:alphaModFix/>
          </a:blip>
          <a:srcRect/>
          <a:stretch/>
        </p:blipFill>
        <p:spPr>
          <a:xfrm>
            <a:off x="18718319" y="11017350"/>
            <a:ext cx="552451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g3fb3b5f08b9_3_0"/>
          <p:cNvSpPr/>
          <p:nvPr/>
        </p:nvSpPr>
        <p:spPr>
          <a:xfrm>
            <a:off x="18051569" y="11636475"/>
            <a:ext cx="1895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Evidence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/>
          </a:p>
        </p:txBody>
      </p:sp>
      <p:sp>
        <p:nvSpPr>
          <p:cNvPr id="220" name="Google Shape;220;g3fb3b5f08b9_3_0"/>
          <p:cNvSpPr/>
          <p:nvPr/>
        </p:nvSpPr>
        <p:spPr>
          <a:xfrm>
            <a:off x="20823344" y="10569675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71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g3fb3b5f08b9_3_0"/>
          <p:cNvSpPr/>
          <p:nvPr/>
        </p:nvSpPr>
        <p:spPr>
          <a:xfrm>
            <a:off x="20823344" y="10588725"/>
            <a:ext cx="342900" cy="2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pic>
        <p:nvPicPr>
          <p:cNvPr id="222" name="Google Shape;222;g3fb3b5f08b9_3_0"/>
          <p:cNvPicPr preferRelativeResize="0"/>
          <p:nvPr/>
        </p:nvPicPr>
        <p:blipFill rotWithShape="1">
          <a:blip r:embed="rId23">
            <a:alphaModFix/>
          </a:blip>
          <a:srcRect/>
          <a:stretch/>
        </p:blipFill>
        <p:spPr>
          <a:xfrm>
            <a:off x="20718569" y="11017350"/>
            <a:ext cx="552451" cy="552451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g3fb3b5f08b9_3_0"/>
          <p:cNvSpPr/>
          <p:nvPr/>
        </p:nvSpPr>
        <p:spPr>
          <a:xfrm>
            <a:off x="20051819" y="11636475"/>
            <a:ext cx="1895400" cy="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answer</a:t>
            </a:r>
            <a:endParaRPr/>
          </a:p>
        </p:txBody>
      </p:sp>
      <p:cxnSp>
        <p:nvCxnSpPr>
          <p:cNvPr id="224" name="Google Shape;224;g3fb3b5f08b9_3_0"/>
          <p:cNvCxnSpPr/>
          <p:nvPr/>
        </p:nvCxnSpPr>
        <p:spPr>
          <a:xfrm>
            <a:off x="8088419" y="12493725"/>
            <a:ext cx="13811400" cy="0"/>
          </a:xfrm>
          <a:prstGeom prst="straightConnector1">
            <a:avLst/>
          </a:prstGeom>
          <a:noFill/>
          <a:ln w="152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5" name="Google Shape;225;g3fb3b5f08b9_3_0"/>
          <p:cNvSpPr/>
          <p:nvPr/>
        </p:nvSpPr>
        <p:spPr>
          <a:xfrm>
            <a:off x="8088419" y="12665175"/>
            <a:ext cx="13811400" cy="44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Online query answering</a:t>
            </a:r>
            <a:endParaRPr/>
          </a:p>
        </p:txBody>
      </p:sp>
      <p:sp>
        <p:nvSpPr>
          <p:cNvPr id="226" name="Google Shape;226;g3fb3b5f08b9_3_0"/>
          <p:cNvSpPr/>
          <p:nvPr/>
        </p:nvSpPr>
        <p:spPr>
          <a:xfrm>
            <a:off x="8088419" y="13179525"/>
            <a:ext cx="1381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Retrieval and analytics are restricted to the selected source, country, period and dashboard filters.</a:t>
            </a:r>
            <a:endParaRPr/>
          </a:p>
        </p:txBody>
      </p:sp>
      <p:sp>
        <p:nvSpPr>
          <p:cNvPr id="227" name="Google Shape;227;g3fb3b5f08b9_3_0"/>
          <p:cNvSpPr/>
          <p:nvPr/>
        </p:nvSpPr>
        <p:spPr>
          <a:xfrm>
            <a:off x="8088419" y="14532075"/>
            <a:ext cx="2000100" cy="1124100"/>
          </a:xfrm>
          <a:prstGeom prst="roundRect">
            <a:avLst>
              <a:gd name="adj" fmla="val 10169"/>
            </a:avLst>
          </a:prstGeom>
          <a:solidFill>
            <a:srgbClr val="EAF2FA"/>
          </a:solidFill>
          <a:ln w="152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8" name="Google Shape;228;g3fb3b5f08b9_3_0"/>
          <p:cNvPicPr preferRelativeResize="0"/>
          <p:nvPr/>
        </p:nvPicPr>
        <p:blipFill rotWithShape="1">
          <a:blip r:embed="rId24">
            <a:alphaModFix/>
          </a:blip>
          <a:srcRect/>
          <a:stretch/>
        </p:blipFill>
        <p:spPr>
          <a:xfrm>
            <a:off x="8221769" y="1486545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fb3b5f08b9_3_0"/>
          <p:cNvSpPr/>
          <p:nvPr/>
        </p:nvSpPr>
        <p:spPr>
          <a:xfrm>
            <a:off x="8802794" y="14722575"/>
            <a:ext cx="1152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question</a:t>
            </a:r>
            <a:endParaRPr/>
          </a:p>
        </p:txBody>
      </p:sp>
      <p:sp>
        <p:nvSpPr>
          <p:cNvPr id="230" name="Google Shape;230;g3fb3b5f08b9_3_0"/>
          <p:cNvSpPr/>
          <p:nvPr/>
        </p:nvSpPr>
        <p:spPr>
          <a:xfrm>
            <a:off x="10469669" y="14532075"/>
            <a:ext cx="2533800" cy="1124100"/>
          </a:xfrm>
          <a:prstGeom prst="roundRect">
            <a:avLst>
              <a:gd name="adj" fmla="val 10169"/>
            </a:avLst>
          </a:prstGeom>
          <a:solidFill>
            <a:srgbClr val="EFF7F8"/>
          </a:solidFill>
          <a:ln w="152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1" name="Google Shape;231;g3fb3b5f08b9_3_0"/>
          <p:cNvPicPr preferRelativeResize="0"/>
          <p:nvPr/>
        </p:nvPicPr>
        <p:blipFill rotWithShape="1">
          <a:blip r:embed="rId25">
            <a:alphaModFix/>
          </a:blip>
          <a:srcRect/>
          <a:stretch/>
        </p:blipFill>
        <p:spPr>
          <a:xfrm>
            <a:off x="10603019" y="14865450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g3fb3b5f08b9_3_0"/>
          <p:cNvSpPr/>
          <p:nvPr/>
        </p:nvSpPr>
        <p:spPr>
          <a:xfrm>
            <a:off x="11184044" y="14722575"/>
            <a:ext cx="16860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Query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understanding</a:t>
            </a:r>
            <a:endParaRPr/>
          </a:p>
        </p:txBody>
      </p:sp>
      <p:cxnSp>
        <p:nvCxnSpPr>
          <p:cNvPr id="233" name="Google Shape;233;g3fb3b5f08b9_3_0"/>
          <p:cNvCxnSpPr>
            <a:stCxn id="227" idx="3"/>
            <a:endCxn id="230" idx="1"/>
          </p:cNvCxnSpPr>
          <p:nvPr/>
        </p:nvCxnSpPr>
        <p:spPr>
          <a:xfrm>
            <a:off x="10088519" y="15094125"/>
            <a:ext cx="3813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34" name="Google Shape;234;g3fb3b5f08b9_3_0"/>
          <p:cNvSpPr/>
          <p:nvPr/>
        </p:nvSpPr>
        <p:spPr>
          <a:xfrm>
            <a:off x="13422419" y="13836750"/>
            <a:ext cx="8477400" cy="2200200"/>
          </a:xfrm>
          <a:prstGeom prst="roundRect">
            <a:avLst>
              <a:gd name="adj" fmla="val 6061"/>
            </a:avLst>
          </a:prstGeom>
          <a:solidFill>
            <a:srgbClr val="F8FBFC"/>
          </a:solidFill>
          <a:ln w="152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g3fb3b5f08b9_3_0"/>
          <p:cNvSpPr/>
          <p:nvPr/>
        </p:nvSpPr>
        <p:spPr>
          <a:xfrm>
            <a:off x="13641494" y="13998675"/>
            <a:ext cx="8039100" cy="3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5" b="1">
                <a:solidFill>
                  <a:srgbClr val="0F7180"/>
                </a:solidFill>
                <a:latin typeface="Calibri"/>
                <a:ea typeface="Calibri"/>
                <a:cs typeface="Calibri"/>
                <a:sym typeface="Calibri"/>
              </a:rPr>
              <a:t>THREE EVIDENCE PATHS</a:t>
            </a:r>
            <a:endParaRPr/>
          </a:p>
        </p:txBody>
      </p:sp>
      <p:sp>
        <p:nvSpPr>
          <p:cNvPr id="236" name="Google Shape;236;g3fb3b5f08b9_3_0"/>
          <p:cNvSpPr/>
          <p:nvPr/>
        </p:nvSpPr>
        <p:spPr>
          <a:xfrm>
            <a:off x="13612919" y="14732100"/>
            <a:ext cx="2524200" cy="1124100"/>
          </a:xfrm>
          <a:prstGeom prst="roundRect">
            <a:avLst>
              <a:gd name="adj" fmla="val 10169"/>
            </a:avLst>
          </a:prstGeom>
          <a:solidFill>
            <a:srgbClr val="EAF2FA"/>
          </a:solidFill>
          <a:ln w="171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g3fb3b5f08b9_3_0"/>
          <p:cNvPicPr preferRelativeResize="0"/>
          <p:nvPr/>
        </p:nvPicPr>
        <p:blipFill rotWithShape="1">
          <a:blip r:embed="rId26">
            <a:alphaModFix/>
          </a:blip>
          <a:srcRect/>
          <a:stretch/>
        </p:blipFill>
        <p:spPr>
          <a:xfrm>
            <a:off x="13746269" y="148940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g3fb3b5f08b9_3_0"/>
          <p:cNvSpPr/>
          <p:nvPr/>
        </p:nvSpPr>
        <p:spPr>
          <a:xfrm>
            <a:off x="14270144" y="14855925"/>
            <a:ext cx="17241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Statistical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/>
          </a:p>
        </p:txBody>
      </p:sp>
      <p:sp>
        <p:nvSpPr>
          <p:cNvPr id="239" name="Google Shape;239;g3fb3b5f08b9_3_0"/>
          <p:cNvSpPr/>
          <p:nvPr/>
        </p:nvSpPr>
        <p:spPr>
          <a:xfrm>
            <a:off x="13727219" y="15513150"/>
            <a:ext cx="2295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Counts &amp; rankings</a:t>
            </a:r>
            <a:endParaRPr/>
          </a:p>
        </p:txBody>
      </p:sp>
      <p:sp>
        <p:nvSpPr>
          <p:cNvPr id="240" name="Google Shape;240;g3fb3b5f08b9_3_0"/>
          <p:cNvSpPr/>
          <p:nvPr/>
        </p:nvSpPr>
        <p:spPr>
          <a:xfrm>
            <a:off x="16375169" y="14732100"/>
            <a:ext cx="2524200" cy="1124100"/>
          </a:xfrm>
          <a:prstGeom prst="roundRect">
            <a:avLst>
              <a:gd name="adj" fmla="val 10169"/>
            </a:avLst>
          </a:prstGeom>
          <a:solidFill>
            <a:srgbClr val="EDF5EF"/>
          </a:solidFill>
          <a:ln w="171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1" name="Google Shape;241;g3fb3b5f08b9_3_0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6508519" y="148940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g3fb3b5f08b9_3_0"/>
          <p:cNvSpPr/>
          <p:nvPr/>
        </p:nvSpPr>
        <p:spPr>
          <a:xfrm>
            <a:off x="17032394" y="14855925"/>
            <a:ext cx="17241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Pandas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analytics</a:t>
            </a:r>
            <a:endParaRPr/>
          </a:p>
        </p:txBody>
      </p:sp>
      <p:sp>
        <p:nvSpPr>
          <p:cNvPr id="243" name="Google Shape;243;g3fb3b5f08b9_3_0"/>
          <p:cNvSpPr/>
          <p:nvPr/>
        </p:nvSpPr>
        <p:spPr>
          <a:xfrm>
            <a:off x="16489469" y="15513150"/>
            <a:ext cx="2295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Filtered aggregations</a:t>
            </a:r>
            <a:endParaRPr/>
          </a:p>
        </p:txBody>
      </p:sp>
      <p:sp>
        <p:nvSpPr>
          <p:cNvPr id="244" name="Google Shape;244;g3fb3b5f08b9_3_0"/>
          <p:cNvSpPr/>
          <p:nvPr/>
        </p:nvSpPr>
        <p:spPr>
          <a:xfrm>
            <a:off x="19137419" y="14732100"/>
            <a:ext cx="2524200" cy="1124100"/>
          </a:xfrm>
          <a:prstGeom prst="roundRect">
            <a:avLst>
              <a:gd name="adj" fmla="val 10169"/>
            </a:avLst>
          </a:prstGeom>
          <a:solidFill>
            <a:srgbClr val="F1EFF8"/>
          </a:solidFill>
          <a:ln w="171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g3fb3b5f08b9_3_0"/>
          <p:cNvPicPr preferRelativeResize="0"/>
          <p:nvPr/>
        </p:nvPicPr>
        <p:blipFill rotWithShape="1">
          <a:blip r:embed="rId28">
            <a:alphaModFix/>
          </a:blip>
          <a:srcRect/>
          <a:stretch/>
        </p:blipFill>
        <p:spPr>
          <a:xfrm>
            <a:off x="19270769" y="14894025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g3fb3b5f08b9_3_0"/>
          <p:cNvSpPr/>
          <p:nvPr/>
        </p:nvSpPr>
        <p:spPr>
          <a:xfrm>
            <a:off x="19794644" y="14855925"/>
            <a:ext cx="17241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Semantic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retrieval</a:t>
            </a:r>
            <a:endParaRPr/>
          </a:p>
        </p:txBody>
      </p:sp>
      <p:sp>
        <p:nvSpPr>
          <p:cNvPr id="247" name="Google Shape;247;g3fb3b5f08b9_3_0"/>
          <p:cNvSpPr/>
          <p:nvPr/>
        </p:nvSpPr>
        <p:spPr>
          <a:xfrm>
            <a:off x="19251719" y="15513150"/>
            <a:ext cx="2295600" cy="2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Relevant job postings</a:t>
            </a:r>
            <a:endParaRPr/>
          </a:p>
        </p:txBody>
      </p:sp>
      <p:sp>
        <p:nvSpPr>
          <p:cNvPr id="248" name="Google Shape;248;g3fb3b5f08b9_3_0"/>
          <p:cNvSpPr/>
          <p:nvPr/>
        </p:nvSpPr>
        <p:spPr>
          <a:xfrm>
            <a:off x="13002843" y="1509357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g3fb3b5f08b9_3_0"/>
          <p:cNvSpPr/>
          <p:nvPr/>
        </p:nvSpPr>
        <p:spPr>
          <a:xfrm>
            <a:off x="13231443" y="1509357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0" name="Google Shape;250;g3fb3b5f08b9_3_0"/>
          <p:cNvCxnSpPr>
            <a:stCxn id="248" idx="3"/>
            <a:endCxn id="249" idx="1"/>
          </p:cNvCxnSpPr>
          <p:nvPr/>
        </p:nvCxnSpPr>
        <p:spPr>
          <a:xfrm>
            <a:off x="13003743" y="15094024"/>
            <a:ext cx="2277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1" name="Google Shape;251;g3fb3b5f08b9_3_0"/>
          <p:cNvSpPr/>
          <p:nvPr/>
        </p:nvSpPr>
        <p:spPr>
          <a:xfrm>
            <a:off x="13231443" y="1509357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fb3b5f08b9_3_0"/>
          <p:cNvSpPr/>
          <p:nvPr/>
        </p:nvSpPr>
        <p:spPr>
          <a:xfrm>
            <a:off x="13231443" y="1449349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3" name="Google Shape;253;g3fb3b5f08b9_3_0"/>
          <p:cNvCxnSpPr>
            <a:stCxn id="251" idx="3"/>
            <a:endCxn id="252" idx="1"/>
          </p:cNvCxnSpPr>
          <p:nvPr/>
        </p:nvCxnSpPr>
        <p:spPr>
          <a:xfrm rot="10800000">
            <a:off x="13231443" y="14494024"/>
            <a:ext cx="900" cy="6000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4" name="Google Shape;254;g3fb3b5f08b9_3_0"/>
          <p:cNvSpPr/>
          <p:nvPr/>
        </p:nvSpPr>
        <p:spPr>
          <a:xfrm>
            <a:off x="13231443" y="1449349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g3fb3b5f08b9_3_0"/>
          <p:cNvSpPr/>
          <p:nvPr/>
        </p:nvSpPr>
        <p:spPr>
          <a:xfrm>
            <a:off x="20399005" y="1449349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6" name="Google Shape;256;g3fb3b5f08b9_3_0"/>
          <p:cNvCxnSpPr>
            <a:stCxn id="254" idx="3"/>
            <a:endCxn id="255" idx="1"/>
          </p:cNvCxnSpPr>
          <p:nvPr/>
        </p:nvCxnSpPr>
        <p:spPr>
          <a:xfrm>
            <a:off x="13232343" y="14493949"/>
            <a:ext cx="71667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" name="Google Shape;257;g3fb3b5f08b9_3_0"/>
          <p:cNvSpPr/>
          <p:nvPr/>
        </p:nvSpPr>
        <p:spPr>
          <a:xfrm>
            <a:off x="14874505" y="1449349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fb3b5f08b9_3_0"/>
          <p:cNvSpPr/>
          <p:nvPr/>
        </p:nvSpPr>
        <p:spPr>
          <a:xfrm>
            <a:off x="14874505" y="1473162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59" name="Google Shape;259;g3fb3b5f08b9_3_0"/>
          <p:cNvCxnSpPr>
            <a:stCxn id="257" idx="3"/>
            <a:endCxn id="258" idx="1"/>
          </p:cNvCxnSpPr>
          <p:nvPr/>
        </p:nvCxnSpPr>
        <p:spPr>
          <a:xfrm flipH="1">
            <a:off x="14874505" y="14493949"/>
            <a:ext cx="900" cy="2382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0" name="Google Shape;260;g3fb3b5f08b9_3_0"/>
          <p:cNvSpPr/>
          <p:nvPr/>
        </p:nvSpPr>
        <p:spPr>
          <a:xfrm>
            <a:off x="14874505" y="1585557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g3fb3b5f08b9_3_0"/>
          <p:cNvSpPr/>
          <p:nvPr/>
        </p:nvSpPr>
        <p:spPr>
          <a:xfrm>
            <a:off x="14874505" y="161508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2" name="Google Shape;262;g3fb3b5f08b9_3_0"/>
          <p:cNvCxnSpPr>
            <a:stCxn id="260" idx="3"/>
            <a:endCxn id="261" idx="1"/>
          </p:cNvCxnSpPr>
          <p:nvPr/>
        </p:nvCxnSpPr>
        <p:spPr>
          <a:xfrm flipH="1">
            <a:off x="14874505" y="15856024"/>
            <a:ext cx="900" cy="2952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3" name="Google Shape;263;g3fb3b5f08b9_3_0"/>
          <p:cNvSpPr/>
          <p:nvPr/>
        </p:nvSpPr>
        <p:spPr>
          <a:xfrm>
            <a:off x="17636755" y="1449349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g3fb3b5f08b9_3_0"/>
          <p:cNvSpPr/>
          <p:nvPr/>
        </p:nvSpPr>
        <p:spPr>
          <a:xfrm>
            <a:off x="17636755" y="1473162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5" name="Google Shape;265;g3fb3b5f08b9_3_0"/>
          <p:cNvCxnSpPr>
            <a:stCxn id="263" idx="3"/>
            <a:endCxn id="264" idx="1"/>
          </p:cNvCxnSpPr>
          <p:nvPr/>
        </p:nvCxnSpPr>
        <p:spPr>
          <a:xfrm flipH="1">
            <a:off x="17636755" y="14493949"/>
            <a:ext cx="900" cy="2382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66" name="Google Shape;266;g3fb3b5f08b9_3_0"/>
          <p:cNvSpPr/>
          <p:nvPr/>
        </p:nvSpPr>
        <p:spPr>
          <a:xfrm>
            <a:off x="17636755" y="1585557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g3fb3b5f08b9_3_0"/>
          <p:cNvSpPr/>
          <p:nvPr/>
        </p:nvSpPr>
        <p:spPr>
          <a:xfrm>
            <a:off x="17636755" y="161508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68" name="Google Shape;268;g3fb3b5f08b9_3_0"/>
          <p:cNvCxnSpPr>
            <a:stCxn id="266" idx="3"/>
            <a:endCxn id="267" idx="1"/>
          </p:cNvCxnSpPr>
          <p:nvPr/>
        </p:nvCxnSpPr>
        <p:spPr>
          <a:xfrm flipH="1">
            <a:off x="17636755" y="15856024"/>
            <a:ext cx="900" cy="2952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9" name="Google Shape;269;g3fb3b5f08b9_3_0"/>
          <p:cNvSpPr/>
          <p:nvPr/>
        </p:nvSpPr>
        <p:spPr>
          <a:xfrm>
            <a:off x="20399005" y="1449349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g3fb3b5f08b9_3_0"/>
          <p:cNvSpPr/>
          <p:nvPr/>
        </p:nvSpPr>
        <p:spPr>
          <a:xfrm>
            <a:off x="20399005" y="1473162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1" name="Google Shape;271;g3fb3b5f08b9_3_0"/>
          <p:cNvCxnSpPr>
            <a:stCxn id="269" idx="3"/>
            <a:endCxn id="270" idx="1"/>
          </p:cNvCxnSpPr>
          <p:nvPr/>
        </p:nvCxnSpPr>
        <p:spPr>
          <a:xfrm flipH="1">
            <a:off x="20399005" y="14493949"/>
            <a:ext cx="900" cy="2382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72" name="Google Shape;272;g3fb3b5f08b9_3_0"/>
          <p:cNvSpPr/>
          <p:nvPr/>
        </p:nvSpPr>
        <p:spPr>
          <a:xfrm>
            <a:off x="20399005" y="1585557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fb3b5f08b9_3_0"/>
          <p:cNvSpPr/>
          <p:nvPr/>
        </p:nvSpPr>
        <p:spPr>
          <a:xfrm>
            <a:off x="20399005" y="161508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4" name="Google Shape;274;g3fb3b5f08b9_3_0"/>
          <p:cNvCxnSpPr>
            <a:stCxn id="272" idx="3"/>
            <a:endCxn id="273" idx="1"/>
          </p:cNvCxnSpPr>
          <p:nvPr/>
        </p:nvCxnSpPr>
        <p:spPr>
          <a:xfrm flipH="1">
            <a:off x="20399005" y="15856024"/>
            <a:ext cx="900" cy="2952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5" name="Google Shape;275;g3fb3b5f08b9_3_0"/>
          <p:cNvSpPr/>
          <p:nvPr/>
        </p:nvSpPr>
        <p:spPr>
          <a:xfrm>
            <a:off x="14874505" y="161508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3fb3b5f08b9_3_0"/>
          <p:cNvSpPr/>
          <p:nvPr/>
        </p:nvSpPr>
        <p:spPr>
          <a:xfrm>
            <a:off x="20399005" y="161508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77" name="Google Shape;277;g3fb3b5f08b9_3_0"/>
          <p:cNvCxnSpPr>
            <a:stCxn id="275" idx="3"/>
            <a:endCxn id="276" idx="1"/>
          </p:cNvCxnSpPr>
          <p:nvPr/>
        </p:nvCxnSpPr>
        <p:spPr>
          <a:xfrm>
            <a:off x="14875405" y="16151299"/>
            <a:ext cx="55236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8" name="Google Shape;278;g3fb3b5f08b9_3_0"/>
          <p:cNvSpPr/>
          <p:nvPr/>
        </p:nvSpPr>
        <p:spPr>
          <a:xfrm>
            <a:off x="13422419" y="16437075"/>
            <a:ext cx="8477400" cy="1181100"/>
          </a:xfrm>
          <a:prstGeom prst="roundRect">
            <a:avLst>
              <a:gd name="adj" fmla="val 9677"/>
            </a:avLst>
          </a:prstGeom>
          <a:solidFill>
            <a:srgbClr val="EFF7F8"/>
          </a:solidFill>
          <a:ln w="171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9" name="Google Shape;279;g3fb3b5f08b9_3_0"/>
          <p:cNvPicPr preferRelativeResize="0"/>
          <p:nvPr/>
        </p:nvPicPr>
        <p:blipFill rotWithShape="1">
          <a:blip r:embed="rId29">
            <a:alphaModFix/>
          </a:blip>
          <a:srcRect/>
          <a:stretch/>
        </p:blipFill>
        <p:spPr>
          <a:xfrm>
            <a:off x="13565294" y="16722825"/>
            <a:ext cx="466725" cy="466725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fb3b5f08b9_3_0"/>
          <p:cNvSpPr/>
          <p:nvPr/>
        </p:nvSpPr>
        <p:spPr>
          <a:xfrm>
            <a:off x="14203469" y="16560900"/>
            <a:ext cx="7477200" cy="40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Scoped evidence context</a:t>
            </a:r>
            <a:endParaRPr/>
          </a:p>
        </p:txBody>
      </p:sp>
      <p:sp>
        <p:nvSpPr>
          <p:cNvPr id="281" name="Google Shape;281;g3fb3b5f08b9_3_0"/>
          <p:cNvSpPr/>
          <p:nvPr/>
        </p:nvSpPr>
        <p:spPr>
          <a:xfrm>
            <a:off x="14203469" y="16980000"/>
            <a:ext cx="7477200" cy="5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Dataset summaries · Computed statistics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Retrieved postings · Source metadata</a:t>
            </a:r>
            <a:endParaRPr/>
          </a:p>
        </p:txBody>
      </p:sp>
      <p:sp>
        <p:nvSpPr>
          <p:cNvPr id="282" name="Google Shape;282;g3fb3b5f08b9_3_0"/>
          <p:cNvSpPr/>
          <p:nvPr/>
        </p:nvSpPr>
        <p:spPr>
          <a:xfrm>
            <a:off x="17636755" y="161508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3fb3b5f08b9_3_0"/>
          <p:cNvSpPr/>
          <p:nvPr/>
        </p:nvSpPr>
        <p:spPr>
          <a:xfrm>
            <a:off x="17636755" y="1643659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4" name="Google Shape;284;g3fb3b5f08b9_3_0"/>
          <p:cNvCxnSpPr>
            <a:stCxn id="282" idx="3"/>
            <a:endCxn id="283" idx="1"/>
          </p:cNvCxnSpPr>
          <p:nvPr/>
        </p:nvCxnSpPr>
        <p:spPr>
          <a:xfrm flipH="1">
            <a:off x="17636755" y="16151299"/>
            <a:ext cx="900" cy="2859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85" name="Google Shape;285;g3fb3b5f08b9_3_0"/>
          <p:cNvSpPr/>
          <p:nvPr/>
        </p:nvSpPr>
        <p:spPr>
          <a:xfrm>
            <a:off x="8088419" y="17799150"/>
            <a:ext cx="3190800" cy="1162200"/>
          </a:xfrm>
          <a:prstGeom prst="roundRect">
            <a:avLst>
              <a:gd name="adj" fmla="val 9836"/>
            </a:avLst>
          </a:prstGeom>
          <a:solidFill>
            <a:srgbClr val="F1EFF8"/>
          </a:solidFill>
          <a:ln w="152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" name="Google Shape;286;g3fb3b5f08b9_3_0"/>
          <p:cNvPicPr preferRelativeResize="0"/>
          <p:nvPr/>
        </p:nvPicPr>
        <p:blipFill rotWithShape="1">
          <a:blip r:embed="rId30">
            <a:alphaModFix/>
          </a:blip>
          <a:srcRect/>
          <a:stretch/>
        </p:blipFill>
        <p:spPr>
          <a:xfrm>
            <a:off x="8349680" y="18008700"/>
            <a:ext cx="363303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g3fb3b5f08b9_3_0"/>
          <p:cNvSpPr/>
          <p:nvPr/>
        </p:nvSpPr>
        <p:spPr>
          <a:xfrm>
            <a:off x="8945669" y="17989650"/>
            <a:ext cx="22002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Fanar LLM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Generation</a:t>
            </a:r>
            <a:endParaRPr/>
          </a:p>
        </p:txBody>
      </p:sp>
      <p:sp>
        <p:nvSpPr>
          <p:cNvPr id="288" name="Google Shape;288;g3fb3b5f08b9_3_0"/>
          <p:cNvSpPr/>
          <p:nvPr/>
        </p:nvSpPr>
        <p:spPr>
          <a:xfrm>
            <a:off x="12088919" y="17799150"/>
            <a:ext cx="3714900" cy="1162200"/>
          </a:xfrm>
          <a:prstGeom prst="roundRect">
            <a:avLst>
              <a:gd name="adj" fmla="val 9836"/>
            </a:avLst>
          </a:prstGeom>
          <a:solidFill>
            <a:srgbClr val="EFF7F8"/>
          </a:solidFill>
          <a:ln w="171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9" name="Google Shape;289;g3fb3b5f08b9_3_0"/>
          <p:cNvPicPr preferRelativeResize="0"/>
          <p:nvPr/>
        </p:nvPicPr>
        <p:blipFill rotWithShape="1">
          <a:blip r:embed="rId31">
            <a:alphaModFix/>
          </a:blip>
          <a:srcRect/>
          <a:stretch/>
        </p:blipFill>
        <p:spPr>
          <a:xfrm>
            <a:off x="12250844" y="17961075"/>
            <a:ext cx="447675" cy="447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g3fb3b5f08b9_3_0"/>
          <p:cNvSpPr/>
          <p:nvPr/>
        </p:nvSpPr>
        <p:spPr>
          <a:xfrm>
            <a:off x="12831869" y="17951550"/>
            <a:ext cx="276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Validation</a:t>
            </a:r>
            <a:endParaRPr/>
          </a:p>
        </p:txBody>
      </p:sp>
      <p:sp>
        <p:nvSpPr>
          <p:cNvPr id="291" name="Google Shape;291;g3fb3b5f08b9_3_0"/>
          <p:cNvSpPr/>
          <p:nvPr/>
        </p:nvSpPr>
        <p:spPr>
          <a:xfrm>
            <a:off x="12279419" y="18513525"/>
            <a:ext cx="33339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Check citations and numbers</a:t>
            </a:r>
            <a:endParaRPr/>
          </a:p>
        </p:txBody>
      </p:sp>
      <p:sp>
        <p:nvSpPr>
          <p:cNvPr id="292" name="Google Shape;292;g3fb3b5f08b9_3_0"/>
          <p:cNvSpPr/>
          <p:nvPr/>
        </p:nvSpPr>
        <p:spPr>
          <a:xfrm>
            <a:off x="18089669" y="17799150"/>
            <a:ext cx="3810000" cy="1162200"/>
          </a:xfrm>
          <a:prstGeom prst="roundRect">
            <a:avLst>
              <a:gd name="adj" fmla="val 9836"/>
            </a:avLst>
          </a:prstGeom>
          <a:solidFill>
            <a:srgbClr val="EDF5EF"/>
          </a:solidFill>
          <a:ln w="152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3" name="Google Shape;293;g3fb3b5f08b9_3_0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8223019" y="18151575"/>
            <a:ext cx="457201" cy="4572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fb3b5f08b9_3_0"/>
          <p:cNvSpPr/>
          <p:nvPr/>
        </p:nvSpPr>
        <p:spPr>
          <a:xfrm>
            <a:off x="18804044" y="17989650"/>
            <a:ext cx="29622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Arabic / English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response with citations</a:t>
            </a:r>
            <a:endParaRPr/>
          </a:p>
        </p:txBody>
      </p:sp>
      <p:sp>
        <p:nvSpPr>
          <p:cNvPr id="295" name="Google Shape;295;g3fb3b5f08b9_3_0"/>
          <p:cNvSpPr/>
          <p:nvPr/>
        </p:nvSpPr>
        <p:spPr>
          <a:xfrm>
            <a:off x="13421943" y="170271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g3fb3b5f08b9_3_0"/>
          <p:cNvSpPr/>
          <p:nvPr/>
        </p:nvSpPr>
        <p:spPr>
          <a:xfrm>
            <a:off x="11488368" y="170271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7" name="Google Shape;297;g3fb3b5f08b9_3_0"/>
          <p:cNvCxnSpPr>
            <a:stCxn id="295" idx="3"/>
            <a:endCxn id="296" idx="1"/>
          </p:cNvCxnSpPr>
          <p:nvPr/>
        </p:nvCxnSpPr>
        <p:spPr>
          <a:xfrm rot="10800000">
            <a:off x="11488443" y="17027599"/>
            <a:ext cx="19344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8" name="Google Shape;298;g3fb3b5f08b9_3_0"/>
          <p:cNvSpPr/>
          <p:nvPr/>
        </p:nvSpPr>
        <p:spPr>
          <a:xfrm>
            <a:off x="11488368" y="170271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g3fb3b5f08b9_3_0"/>
          <p:cNvSpPr/>
          <p:nvPr/>
        </p:nvSpPr>
        <p:spPr>
          <a:xfrm>
            <a:off x="11488368" y="176367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0" name="Google Shape;300;g3fb3b5f08b9_3_0"/>
          <p:cNvCxnSpPr>
            <a:stCxn id="298" idx="3"/>
            <a:endCxn id="299" idx="1"/>
          </p:cNvCxnSpPr>
          <p:nvPr/>
        </p:nvCxnSpPr>
        <p:spPr>
          <a:xfrm flipH="1">
            <a:off x="11488368" y="17027599"/>
            <a:ext cx="900" cy="6096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1" name="Google Shape;301;g3fb3b5f08b9_3_0"/>
          <p:cNvSpPr/>
          <p:nvPr/>
        </p:nvSpPr>
        <p:spPr>
          <a:xfrm>
            <a:off x="9683380" y="176367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g3fb3b5f08b9_3_0"/>
          <p:cNvSpPr/>
          <p:nvPr/>
        </p:nvSpPr>
        <p:spPr>
          <a:xfrm>
            <a:off x="11488368" y="176367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3" name="Google Shape;303;g3fb3b5f08b9_3_0"/>
          <p:cNvCxnSpPr>
            <a:stCxn id="301" idx="3"/>
            <a:endCxn id="302" idx="1"/>
          </p:cNvCxnSpPr>
          <p:nvPr/>
        </p:nvCxnSpPr>
        <p:spPr>
          <a:xfrm>
            <a:off x="9684280" y="17637199"/>
            <a:ext cx="18042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4" name="Google Shape;304;g3fb3b5f08b9_3_0"/>
          <p:cNvSpPr/>
          <p:nvPr/>
        </p:nvSpPr>
        <p:spPr>
          <a:xfrm>
            <a:off x="9683380" y="17636749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g3fb3b5f08b9_3_0"/>
          <p:cNvSpPr/>
          <p:nvPr/>
        </p:nvSpPr>
        <p:spPr>
          <a:xfrm>
            <a:off x="9683380" y="1779867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6" name="Google Shape;306;g3fb3b5f08b9_3_0"/>
          <p:cNvCxnSpPr>
            <a:stCxn id="304" idx="3"/>
            <a:endCxn id="305" idx="1"/>
          </p:cNvCxnSpPr>
          <p:nvPr/>
        </p:nvCxnSpPr>
        <p:spPr>
          <a:xfrm flipH="1">
            <a:off x="9683380" y="17637199"/>
            <a:ext cx="900" cy="16200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7" name="Google Shape;307;g3fb3b5f08b9_3_0"/>
          <p:cNvCxnSpPr>
            <a:stCxn id="285" idx="3"/>
            <a:endCxn id="288" idx="1"/>
          </p:cNvCxnSpPr>
          <p:nvPr/>
        </p:nvCxnSpPr>
        <p:spPr>
          <a:xfrm>
            <a:off x="11279219" y="18380250"/>
            <a:ext cx="8097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8" name="Google Shape;308;g3fb3b5f08b9_3_0"/>
          <p:cNvCxnSpPr>
            <a:stCxn id="288" idx="3"/>
            <a:endCxn id="292" idx="1"/>
          </p:cNvCxnSpPr>
          <p:nvPr/>
        </p:nvCxnSpPr>
        <p:spPr>
          <a:xfrm>
            <a:off x="15803819" y="18380250"/>
            <a:ext cx="2286000" cy="0"/>
          </a:xfrm>
          <a:prstGeom prst="straightConnector1">
            <a:avLst/>
          </a:prstGeom>
          <a:noFill/>
          <a:ln w="38100" cap="flat" cmpd="sng">
            <a:solidFill>
              <a:srgbClr val="153A4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9" name="Google Shape;309;g3fb3b5f08b9_3_0"/>
          <p:cNvSpPr/>
          <p:nvPr/>
        </p:nvSpPr>
        <p:spPr>
          <a:xfrm>
            <a:off x="18089669" y="19246950"/>
            <a:ext cx="3810000" cy="1171500"/>
          </a:xfrm>
          <a:prstGeom prst="roundRect">
            <a:avLst>
              <a:gd name="adj" fmla="val 9756"/>
            </a:avLst>
          </a:prstGeom>
          <a:solidFill>
            <a:srgbClr val="FCF0EB"/>
          </a:solidFill>
          <a:ln w="17125" cap="flat" cmpd="sng">
            <a:solidFill>
              <a:srgbClr val="CCDC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0" name="Google Shape;310;g3fb3b5f08b9_3_0"/>
          <p:cNvPicPr preferRelativeResize="0"/>
          <p:nvPr/>
        </p:nvPicPr>
        <p:blipFill rotWithShape="1">
          <a:blip r:embed="rId33">
            <a:alphaModFix/>
          </a:blip>
          <a:srcRect/>
          <a:stretch/>
        </p:blipFill>
        <p:spPr>
          <a:xfrm>
            <a:off x="18251594" y="19399350"/>
            <a:ext cx="40005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3fb3b5f08b9_3_0"/>
          <p:cNvSpPr/>
          <p:nvPr/>
        </p:nvSpPr>
        <p:spPr>
          <a:xfrm>
            <a:off x="18794519" y="19351725"/>
            <a:ext cx="2905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 b="1">
                <a:solidFill>
                  <a:srgbClr val="153A49"/>
                </a:solidFill>
                <a:latin typeface="Calibri"/>
                <a:ea typeface="Calibri"/>
                <a:cs typeface="Calibri"/>
                <a:sym typeface="Calibri"/>
              </a:rPr>
              <a:t>Safe abstention</a:t>
            </a:r>
            <a:endParaRPr/>
          </a:p>
        </p:txBody>
      </p:sp>
      <p:sp>
        <p:nvSpPr>
          <p:cNvPr id="312" name="Google Shape;312;g3fb3b5f08b9_3_0"/>
          <p:cNvSpPr/>
          <p:nvPr/>
        </p:nvSpPr>
        <p:spPr>
          <a:xfrm>
            <a:off x="18270644" y="19789875"/>
            <a:ext cx="34575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State that the selected data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>
                <a:solidFill>
                  <a:srgbClr val="536D77"/>
                </a:solidFill>
                <a:latin typeface="Calibri"/>
                <a:ea typeface="Calibri"/>
                <a:cs typeface="Calibri"/>
                <a:sym typeface="Calibri"/>
              </a:rPr>
              <a:t>cannot support an answer</a:t>
            </a:r>
            <a:endParaRPr/>
          </a:p>
        </p:txBody>
      </p:sp>
      <p:sp>
        <p:nvSpPr>
          <p:cNvPr id="313" name="Google Shape;313;g3fb3b5f08b9_3_0"/>
          <p:cNvSpPr/>
          <p:nvPr/>
        </p:nvSpPr>
        <p:spPr>
          <a:xfrm>
            <a:off x="13945818" y="18960724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g3fb3b5f08b9_3_0"/>
          <p:cNvSpPr/>
          <p:nvPr/>
        </p:nvSpPr>
        <p:spPr>
          <a:xfrm>
            <a:off x="13945818" y="19832261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5" name="Google Shape;315;g3fb3b5f08b9_3_0"/>
          <p:cNvCxnSpPr>
            <a:stCxn id="313" idx="3"/>
            <a:endCxn id="314" idx="1"/>
          </p:cNvCxnSpPr>
          <p:nvPr/>
        </p:nvCxnSpPr>
        <p:spPr>
          <a:xfrm flipH="1">
            <a:off x="13945818" y="18961174"/>
            <a:ext cx="900" cy="871500"/>
          </a:xfrm>
          <a:prstGeom prst="straightConnector1">
            <a:avLst/>
          </a:prstGeom>
          <a:noFill/>
          <a:ln w="38100" cap="flat" cmpd="sng">
            <a:solidFill>
              <a:srgbClr val="AD4D4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6" name="Google Shape;316;g3fb3b5f08b9_3_0"/>
          <p:cNvSpPr/>
          <p:nvPr/>
        </p:nvSpPr>
        <p:spPr>
          <a:xfrm>
            <a:off x="13945818" y="19832261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g3fb3b5f08b9_3_0"/>
          <p:cNvSpPr/>
          <p:nvPr/>
        </p:nvSpPr>
        <p:spPr>
          <a:xfrm>
            <a:off x="18089193" y="19832261"/>
            <a:ext cx="900" cy="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18" name="Google Shape;318;g3fb3b5f08b9_3_0"/>
          <p:cNvCxnSpPr>
            <a:stCxn id="316" idx="3"/>
            <a:endCxn id="317" idx="1"/>
          </p:cNvCxnSpPr>
          <p:nvPr/>
        </p:nvCxnSpPr>
        <p:spPr>
          <a:xfrm>
            <a:off x="13946718" y="19832711"/>
            <a:ext cx="4142400" cy="0"/>
          </a:xfrm>
          <a:prstGeom prst="straightConnector1">
            <a:avLst/>
          </a:prstGeom>
          <a:noFill/>
          <a:ln w="38100" cap="flat" cmpd="sng">
            <a:solidFill>
              <a:srgbClr val="AD4D4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9" name="Google Shape;319;g3fb3b5f08b9_3_0"/>
          <p:cNvSpPr/>
          <p:nvPr/>
        </p:nvSpPr>
        <p:spPr>
          <a:xfrm>
            <a:off x="14212994" y="19132650"/>
            <a:ext cx="3638700" cy="6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>
                <a:solidFill>
                  <a:srgbClr val="AD4D42"/>
                </a:solidFill>
                <a:latin typeface="Calibri"/>
                <a:ea typeface="Calibri"/>
                <a:cs typeface="Calibri"/>
                <a:sym typeface="Calibri"/>
              </a:rPr>
              <a:t>Insufficient evidence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5" b="0">
                <a:solidFill>
                  <a:srgbClr val="AD4D42"/>
                </a:solidFill>
                <a:latin typeface="Calibri"/>
                <a:ea typeface="Calibri"/>
                <a:cs typeface="Calibri"/>
                <a:sym typeface="Calibri"/>
              </a:rPr>
              <a:t>or failed checks</a:t>
            </a:r>
            <a:endParaRPr/>
          </a:p>
        </p:txBody>
      </p:sp>
      <p:graphicFrame>
        <p:nvGraphicFramePr>
          <p:cNvPr id="321" name="Chart"/>
          <p:cNvGraphicFramePr/>
          <p:nvPr/>
        </p:nvGraphicFramePr>
        <p:xfrm>
          <a:off x="19240500" y="5067300"/>
          <a:ext cx="5286375" cy="3276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sp>
        <p:nvSpPr>
          <p:cNvPr id="323" name="Chart update sector note">
            <a:extLst>
              <a:ext uri="{FF2B5EF4-FFF2-40B4-BE49-F238E27FC236}">
                <a16:creationId xmlns:a16="http://schemas.microsoft.com/office/drawing/2014/main" id="{D7C758A8-8272-434C-9226-61D52FF7610B}"/>
              </a:ext>
            </a:extLst>
          </p:cNvPr>
          <p:cNvSpPr>
            <a:spLocks noGrp="1"/>
          </p:cNvSpPr>
          <p:nvPr/>
        </p:nvSpPr>
        <p:spPr>
          <a:xfrm>
            <a:off x="19240500" y="8410575"/>
            <a:ext cx="53816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536D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D77"/>
                </a:solidFill>
                <a:latin typeface="Calibri"/>
                <a:ea typeface="Calibri"/>
                <a:cs typeface="Calibri"/>
              </a:rPr>
              <a:t>Top 5 sectors overall; share of country postings.</a:t>
            </a:r>
          </a:p>
        </p:txBody>
      </p:sp>
      <p:sp>
        <p:nvSpPr>
          <p:cNvPr id="324" name="Chart update salary note">
            <a:extLst>
              <a:ext uri="{FF2B5EF4-FFF2-40B4-BE49-F238E27FC236}">
                <a16:creationId xmlns:a16="http://schemas.microsoft.com/office/drawing/2014/main" id="{C7D0B8FE-07F7-4FB4-B492-06061F71EF08}"/>
              </a:ext>
            </a:extLst>
          </p:cNvPr>
          <p:cNvSpPr>
            <a:spLocks noGrp="1"/>
          </p:cNvSpPr>
          <p:nvPr/>
        </p:nvSpPr>
        <p:spPr>
          <a:xfrm>
            <a:off x="24860250" y="8410575"/>
            <a:ext cx="46577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575" b="0">
                <a:solidFill>
                  <a:srgbClr val="536D77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536D77"/>
                </a:solidFill>
                <a:latin typeface="Calibri"/>
                <a:ea typeface="Calibri"/>
                <a:cs typeface="Calibri"/>
              </a:rPr>
              <a:t>Median disclosed salary; n = postings per category.</a:t>
            </a:r>
          </a:p>
        </p:txBody>
      </p:sp>
      <p:sp>
        <p:nvSpPr>
          <p:cNvPr id="325" name="Chart update scope">
            <a:extLst>
              <a:ext uri="{FF2B5EF4-FFF2-40B4-BE49-F238E27FC236}">
                <a16:creationId xmlns:a16="http://schemas.microsoft.com/office/drawing/2014/main" id="{6F2D1337-AA1F-424E-84DE-D74F56C1CF39}"/>
              </a:ext>
            </a:extLst>
          </p:cNvPr>
          <p:cNvSpPr>
            <a:spLocks noGrp="1"/>
          </p:cNvSpPr>
          <p:nvPr/>
        </p:nvSpPr>
        <p:spPr>
          <a:xfrm>
            <a:off x="19240500" y="4638675"/>
            <a:ext cx="52863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725" b="0">
                <a:solidFill>
                  <a:srgbClr val="536D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D77"/>
                </a:solidFill>
                <a:latin typeface="Calibri"/>
                <a:ea typeface="Calibri"/>
                <a:cs typeface="Calibri"/>
              </a:rPr>
              <a:t>Bayt + LinkedIn; all available dates</a:t>
            </a:r>
          </a:p>
        </p:txBody>
      </p:sp>
      <p:sp>
        <p:nvSpPr>
          <p:cNvPr id="326" name="Chart update salary scope">
            <a:extLst>
              <a:ext uri="{FF2B5EF4-FFF2-40B4-BE49-F238E27FC236}">
                <a16:creationId xmlns:a16="http://schemas.microsoft.com/office/drawing/2014/main" id="{B42F90A9-F37C-4D4F-9AE0-7B4AB1550CBF}"/>
              </a:ext>
            </a:extLst>
          </p:cNvPr>
          <p:cNvSpPr>
            <a:spLocks noGrp="1"/>
          </p:cNvSpPr>
          <p:nvPr/>
        </p:nvSpPr>
        <p:spPr>
          <a:xfrm>
            <a:off x="24860250" y="4638675"/>
            <a:ext cx="46577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ctr">
              <a:defRPr sz="1725" b="0">
                <a:solidFill>
                  <a:srgbClr val="536D77"/>
                </a:solidFill>
                <a:latin typeface="Calibri"/>
                <a:ea typeface="Calibri"/>
                <a:cs typeface="Calibri"/>
              </a:defRPr>
            </a:pPr>
            <a:r>
              <a:rPr sz="1725" b="0">
                <a:solidFill>
                  <a:srgbClr val="536D77"/>
                </a:solidFill>
                <a:latin typeface="Calibri"/>
                <a:ea typeface="Calibri"/>
                <a:cs typeface="Calibri"/>
              </a:rPr>
              <a:t>Qatar; Bayt, May 2026</a:t>
            </a:r>
          </a:p>
        </p:txBody>
      </p:sp>
      <p:pic>
        <p:nvPicPr>
          <p:cNvPr id="327" name="Picture 326"/>
          <p:cNvPicPr>
            <a:picLocks noChangeAspect="1"/>
          </p:cNvPicPr>
          <p:nvPr/>
        </p:nvPicPr>
        <p:blipFill>
          <a:blip r:embed="rId35"/>
          <a:stretch/>
        </p:blipFill>
        <p:spPr>
          <a:xfrm>
            <a:off x="24860250" y="5067300"/>
            <a:ext cx="4657725" cy="3276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529</Words>
  <Application>Microsoft Macintosh PowerPoint</Application>
  <PresentationFormat>Custom</PresentationFormat>
  <Paragraphs>177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Glass</dc:creator>
  <cp:lastModifiedBy>Yahya Taha</cp:lastModifiedBy>
  <cp:revision>5</cp:revision>
  <dcterms:created xsi:type="dcterms:W3CDTF">2013-12-18T16:13:33Z</dcterms:created>
  <dcterms:modified xsi:type="dcterms:W3CDTF">2026-09-27T11:31:11Z</dcterms:modified>
</cp:coreProperties>
</file>